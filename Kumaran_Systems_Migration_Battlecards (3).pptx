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Internal battlecard pack for the Kumaran Informatica PowerCenter to Databricks migration tool. Five competitors, one card each. Swap in the official product name if it differs from 'Kumaran Migration Accelerator'.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two human-in-the-loop gates and common-component detection. Those are the two things no competitor in this pack advertises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dark cards are the differentiator. Point at them explicitly in a demo — most competing tools have a single conversion pass with no structured developer review before code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claim a competitor cannot do something on the strength of this table alone. 'Not published' is a discovery prompt, not a fact about their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Lakebridge: lead with the middle column. Never assert a competitor gap as fact in front of a client — turn it into one of the discovery questions on the right and let them tell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LeapLogic: lead with the middle column. Never assert a competitor gap as fact in front of a client — turn it into one of the discovery questions on the right and let them tell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Partners: lead with the middle column. Never assert a competitor gap as fact in front of a client — turn it into one of the discovery questions on the right and let them tell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FLIP: lead with the middle column. Never assert a competitor gap as fact in front of a client — turn it into one of the discovery questions on the right and let them tell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Travinto Tools: lead with the middle column. Never assert a competitor gap as fact in front of a client — turn it into one of the discovery questions on the right and let them tell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seven questions on the right before choosing a card. The answers on scale, effort split and the fix loop tell you which competitor you are actually against.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PoC. It is the only proposal in this pack that no competitor claim can deflect.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1C1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480560"/>
            <a:ext cx="3840480" cy="3840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5394960"/>
            <a:ext cx="2194560" cy="219456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548640"/>
            <a:ext cx="306324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58952"/>
            <a:ext cx="2651760" cy="9756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21396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50" kern="0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MIGRATION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76656" y="2414016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Battlecards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713232" y="334670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Kumaran Migration Accelerator — Informatica PowerCenter → Databricks (PySpark)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13232" y="42062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740664" y="479145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0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70632" y="42062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2798064" y="479145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migration</a:t>
            </a:r>
            <a:endParaRPr lang="en-US" sz="10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28032" y="42062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4855464" y="479145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manual</a:t>
            </a:r>
            <a:endParaRPr lang="en-US" sz="10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13232" y="60350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Kumaran Systems  ·  For internal use only  ·  Sales enablement  ·  August 2026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223760" y="548640"/>
            <a:ext cx="4526280" cy="576072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754380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4C9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COMPETE AGAINST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543800" y="1435608"/>
            <a:ext cx="457200" cy="457200"/>
          </a:xfrm>
          <a:prstGeom prst="ellipse">
            <a:avLst/>
          </a:prstGeom>
          <a:solidFill>
            <a:srgbClr val="81C195"/>
          </a:solidFill>
          <a:ln/>
        </p:spPr>
      </p:sp>
      <p:sp>
        <p:nvSpPr>
          <p:cNvPr id="19" name="Text 16"/>
          <p:cNvSpPr/>
          <p:nvPr/>
        </p:nvSpPr>
        <p:spPr>
          <a:xfrm>
            <a:off x="754380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138160" y="14264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Lakebridge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156448" y="169164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· open source (BladeBridge)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543800" y="2377440"/>
            <a:ext cx="457200" cy="457200"/>
          </a:xfrm>
          <a:prstGeom prst="ellipse">
            <a:avLst/>
          </a:prstGeom>
          <a:solidFill>
            <a:srgbClr val="81C195"/>
          </a:solidFill>
          <a:ln/>
        </p:spPr>
      </p:sp>
      <p:sp>
        <p:nvSpPr>
          <p:cNvPr id="23" name="Text 20"/>
          <p:cNvSpPr/>
          <p:nvPr/>
        </p:nvSpPr>
        <p:spPr>
          <a:xfrm>
            <a:off x="75438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138160" y="23682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LeapLogic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156448" y="26334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Impetus Technologies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543800" y="3319272"/>
            <a:ext cx="457200" cy="457200"/>
          </a:xfrm>
          <a:prstGeom prst="ellipse">
            <a:avLst/>
          </a:prstGeom>
          <a:solidFill>
            <a:srgbClr val="81C195"/>
          </a:solidFill>
          <a:ln/>
        </p:spPr>
      </p:sp>
      <p:sp>
        <p:nvSpPr>
          <p:cNvPr id="27" name="Text 24"/>
          <p:cNvSpPr/>
          <p:nvPr/>
        </p:nvSpPr>
        <p:spPr>
          <a:xfrm>
            <a:off x="754380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138160" y="33101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Partners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8156448" y="357530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DataBridge Suite migration utility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543800" y="4261104"/>
            <a:ext cx="457200" cy="457200"/>
          </a:xfrm>
          <a:prstGeom prst="ellipse">
            <a:avLst/>
          </a:prstGeom>
          <a:solidFill>
            <a:srgbClr val="81C195"/>
          </a:solidFill>
          <a:ln/>
        </p:spPr>
      </p:sp>
      <p:sp>
        <p:nvSpPr>
          <p:cNvPr id="31" name="Text 28"/>
          <p:cNvSpPr/>
          <p:nvPr/>
        </p:nvSpPr>
        <p:spPr>
          <a:xfrm>
            <a:off x="754380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138160" y="42519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8156448" y="451713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Kanerika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7543800" y="5202936"/>
            <a:ext cx="457200" cy="457200"/>
          </a:xfrm>
          <a:prstGeom prst="ellipse">
            <a:avLst/>
          </a:prstGeom>
          <a:solidFill>
            <a:srgbClr val="81C195"/>
          </a:solidFill>
          <a:ln/>
        </p:spPr>
      </p:sp>
      <p:sp>
        <p:nvSpPr>
          <p:cNvPr id="35" name="Text 32"/>
          <p:cNvSpPr/>
          <p:nvPr/>
        </p:nvSpPr>
        <p:spPr>
          <a:xfrm>
            <a:off x="7543800" y="5202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138160" y="51937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Travinto Tools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8156448" y="545896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X2X converter suite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" cy="603504"/>
          </a:xfrm>
          <a:prstGeom prst="ellipse">
            <a:avLst/>
          </a:prstGeom>
          <a:solidFill>
            <a:srgbClr val="40825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36576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4C9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SELL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70432" y="5486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in one slide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863840" y="47548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SaaS tool, not a services engagement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380744"/>
            <a:ext cx="402336" cy="402336"/>
          </a:xfrm>
          <a:prstGeom prst="ellipse">
            <a:avLst/>
          </a:prstGeom>
          <a:solidFill>
            <a:srgbClr val="40825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597" y="1497421"/>
            <a:ext cx="168981" cy="16898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0704" y="13258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XML in, PySpark out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078992" y="1609344"/>
            <a:ext cx="5806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PowerCenter workflow XML in bulk. The tool parses it and produces Databricks-native PySpark — no hand rewriting.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2350008"/>
            <a:ext cx="402336" cy="402336"/>
          </a:xfrm>
          <a:prstGeom prst="ellipse">
            <a:avLst/>
          </a:prstGeom>
          <a:solidFill>
            <a:srgbClr val="40825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97" y="2466685"/>
            <a:ext cx="168981" cy="16898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60704" y="229514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Human-in-the-loop, gate 1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078992" y="2578608"/>
            <a:ext cx="5806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analysis, generated mappings are shown to your developers. They correct source-to-target logic before a single line of code is written.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02920" y="3319272"/>
            <a:ext cx="402336" cy="402336"/>
          </a:xfrm>
          <a:prstGeom prst="ellipse">
            <a:avLst/>
          </a:prstGeom>
          <a:solidFill>
            <a:srgbClr val="40825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97" y="3435949"/>
            <a:ext cx="168981" cy="16898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60704" y="326440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Human-in-the-loop, gate 2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078992" y="3547872"/>
            <a:ext cx="5806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generation, a developer describes the change in plain English and the tool regenerates the code. Manual edits are supported too.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02920" y="4288536"/>
            <a:ext cx="402336" cy="402336"/>
          </a:xfrm>
          <a:prstGeom prst="ellipse">
            <a:avLst/>
          </a:prstGeom>
          <a:solidFill>
            <a:srgbClr val="408255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597" y="4405213"/>
            <a:ext cx="168981" cy="16898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60704" y="423367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Common-component detection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1078992" y="4517136"/>
            <a:ext cx="5806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 bulk upload it spots shared parameters, lookups and repeated logic, then references them once instead of emitting duplicated code.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02920" y="5257800"/>
            <a:ext cx="402336" cy="402336"/>
          </a:xfrm>
          <a:prstGeom prst="ellipse">
            <a:avLst/>
          </a:prstGeom>
          <a:solidFill>
            <a:srgbClr val="408255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597" y="5374477"/>
            <a:ext cx="168981" cy="16898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60704" y="5202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by deployment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1078992" y="5486400"/>
            <a:ext cx="5806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SaaS, inside the client's own Azure subscription, or as a standalone application. Source code need never leave their boundary.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7452360" y="1325880"/>
            <a:ext cx="4279392" cy="1078992"/>
          </a:xfrm>
          <a:prstGeom prst="roundRect">
            <a:avLst>
              <a:gd name="adj" fmla="val 4237"/>
            </a:avLst>
          </a:prstGeom>
          <a:solidFill>
            <a:srgbClr val="EEF7F1"/>
          </a:solidFill>
          <a:ln/>
        </p:spPr>
      </p:sp>
      <p:sp>
        <p:nvSpPr>
          <p:cNvPr id="28" name="Text 21"/>
          <p:cNvSpPr/>
          <p:nvPr/>
        </p:nvSpPr>
        <p:spPr>
          <a:xfrm>
            <a:off x="7699248" y="1453896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082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700" dirty="0"/>
          </a:p>
        </p:txBody>
      </p:sp>
      <p:sp>
        <p:nvSpPr>
          <p:cNvPr id="29" name="Text 22"/>
          <p:cNvSpPr/>
          <p:nvPr/>
        </p:nvSpPr>
        <p:spPr>
          <a:xfrm>
            <a:off x="8915400" y="15361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 preserved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8933688" y="18105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dropped or approximated in translation.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7452360" y="2551176"/>
            <a:ext cx="4279392" cy="1078992"/>
          </a:xfrm>
          <a:prstGeom prst="roundRect">
            <a:avLst>
              <a:gd name="adj" fmla="val 4237"/>
            </a:avLst>
          </a:prstGeom>
          <a:solidFill>
            <a:srgbClr val="EEF7F1"/>
          </a:solidFill>
          <a:ln/>
        </p:spPr>
      </p:sp>
      <p:sp>
        <p:nvSpPr>
          <p:cNvPr id="32" name="Text 25"/>
          <p:cNvSpPr/>
          <p:nvPr/>
        </p:nvSpPr>
        <p:spPr>
          <a:xfrm>
            <a:off x="7699248" y="2679192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082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700" dirty="0"/>
          </a:p>
        </p:txBody>
      </p:sp>
      <p:sp>
        <p:nvSpPr>
          <p:cNvPr id="33" name="Text 26"/>
          <p:cNvSpPr/>
          <p:nvPr/>
        </p:nvSpPr>
        <p:spPr>
          <a:xfrm>
            <a:off x="8915400" y="27614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migration cost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8933688" y="30358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Versus a manual rewrite by a developer team.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7452360" y="3776472"/>
            <a:ext cx="4279392" cy="1078992"/>
          </a:xfrm>
          <a:prstGeom prst="roundRect">
            <a:avLst>
              <a:gd name="adj" fmla="val 4237"/>
            </a:avLst>
          </a:prstGeom>
          <a:solidFill>
            <a:srgbClr val="EEF7F1"/>
          </a:solidFill>
          <a:ln/>
        </p:spPr>
      </p:sp>
      <p:sp>
        <p:nvSpPr>
          <p:cNvPr id="36" name="Text 29"/>
          <p:cNvSpPr/>
          <p:nvPr/>
        </p:nvSpPr>
        <p:spPr>
          <a:xfrm>
            <a:off x="7699248" y="3904488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082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</a:t>
            </a:r>
            <a:endParaRPr lang="en-US" sz="2700" dirty="0"/>
          </a:p>
        </p:txBody>
      </p:sp>
      <p:sp>
        <p:nvSpPr>
          <p:cNvPr id="37" name="Text 30"/>
          <p:cNvSpPr/>
          <p:nvPr/>
        </p:nvSpPr>
        <p:spPr>
          <a:xfrm>
            <a:off x="8915400" y="39867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to migrate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8933688" y="426110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through to production-ready code.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7452360" y="5029200"/>
            <a:ext cx="4279392" cy="1280160"/>
          </a:xfrm>
          <a:prstGeom prst="roundRect">
            <a:avLst>
              <a:gd name="adj" fmla="val 3571"/>
            </a:avLst>
          </a:prstGeom>
          <a:solidFill>
            <a:srgbClr val="81C195"/>
          </a:solidFill>
          <a:ln/>
        </p:spPr>
      </p:sp>
      <p:sp>
        <p:nvSpPr>
          <p:cNvPr id="40" name="Shape 33"/>
          <p:cNvSpPr/>
          <p:nvPr/>
        </p:nvSpPr>
        <p:spPr>
          <a:xfrm>
            <a:off x="7699248" y="5230368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9408" y="5320528"/>
            <a:ext cx="130576" cy="130576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8101584" y="5212080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model</a:t>
            </a:r>
            <a:endParaRPr lang="en-US" sz="1250" dirty="0"/>
          </a:p>
        </p:txBody>
      </p:sp>
      <p:sp>
        <p:nvSpPr>
          <p:cNvPr id="43" name="Text 35"/>
          <p:cNvSpPr/>
          <p:nvPr/>
        </p:nvSpPr>
        <p:spPr>
          <a:xfrm>
            <a:off x="7717536" y="5632704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as you go. The client is metered on what they actually convert — no perpetual licence and no minimum programme size to justify before the first workflow moves.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" cy="603504"/>
          </a:xfrm>
          <a:prstGeom prst="ellipse">
            <a:avLst/>
          </a:prstGeom>
          <a:solidFill>
            <a:srgbClr val="40825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36576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4C9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70432" y="5486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steps, two review gates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863840" y="47548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developer stays in control throughout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84632" y="1572768"/>
            <a:ext cx="2011680" cy="2944368"/>
          </a:xfrm>
          <a:prstGeom prst="roundRect">
            <a:avLst>
              <a:gd name="adj" fmla="val 2273"/>
            </a:avLst>
          </a:prstGeom>
          <a:solidFill>
            <a:srgbClr val="EEF7F1"/>
          </a:solidFill>
          <a:ln w="12700">
            <a:solidFill>
              <a:srgbClr val="CFE7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61872" y="18105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460" y="1943100"/>
            <a:ext cx="192024" cy="1920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84632" y="23957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4C9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84632" y="26334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21792" y="2999232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PowerCenter workflow XML — one file or the whole repository in bulk.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604" y="2948940"/>
            <a:ext cx="192024" cy="19202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788920" y="1572768"/>
            <a:ext cx="2011680" cy="2944368"/>
          </a:xfrm>
          <a:prstGeom prst="roundRect">
            <a:avLst>
              <a:gd name="adj" fmla="val 2273"/>
            </a:avLst>
          </a:prstGeom>
          <a:solidFill>
            <a:srgbClr val="EEF7F1"/>
          </a:solidFill>
          <a:ln w="12700">
            <a:solidFill>
              <a:srgbClr val="CFE7D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566160" y="18105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8748" y="1943100"/>
            <a:ext cx="192024" cy="1920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788920" y="23957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4C9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2788920" y="26334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2926080" y="2999232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parses the XML, resolves dependencies and builds the source-to-target mappings.</a:t>
            </a:r>
            <a:endParaRPr lang="en-US" sz="10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0892" y="2948940"/>
            <a:ext cx="192024" cy="192024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093208" y="1572768"/>
            <a:ext cx="2011680" cy="2944368"/>
          </a:xfrm>
          <a:prstGeom prst="roundRect">
            <a:avLst>
              <a:gd name="adj" fmla="val 2273"/>
            </a:avLst>
          </a:prstGeom>
          <a:solidFill>
            <a:srgbClr val="81C195"/>
          </a:solidFill>
          <a:ln/>
        </p:spPr>
      </p:sp>
      <p:sp>
        <p:nvSpPr>
          <p:cNvPr id="22" name="Shape 16"/>
          <p:cNvSpPr/>
          <p:nvPr/>
        </p:nvSpPr>
        <p:spPr>
          <a:xfrm>
            <a:off x="5870448" y="18105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3036" y="1943100"/>
            <a:ext cx="192024" cy="19202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093208" y="23957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5093208" y="26334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edit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5230368" y="2999232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1. Developers inspect the generated mappings and correct anything the parser read differently.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5166360" y="415137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IN THE LOOP</a:t>
            </a:r>
            <a:endParaRPr lang="en-US" sz="75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5180" y="2948940"/>
            <a:ext cx="192024" cy="192024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7397496" y="1572768"/>
            <a:ext cx="2011680" cy="2944368"/>
          </a:xfrm>
          <a:prstGeom prst="roundRect">
            <a:avLst>
              <a:gd name="adj" fmla="val 2273"/>
            </a:avLst>
          </a:prstGeom>
          <a:solidFill>
            <a:srgbClr val="EEF7F1"/>
          </a:solidFill>
          <a:ln w="12700">
            <a:solidFill>
              <a:srgbClr val="CFE7D7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8174736" y="18105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7324" y="1943100"/>
            <a:ext cx="192024" cy="19202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397496" y="23957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4C9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7397496" y="26334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7534656" y="2999232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PySpark is generated. Shared parameters and repeated logic are referenced, not duplicated.</a:t>
            </a:r>
            <a:endParaRPr lang="en-US" sz="10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59468" y="2948940"/>
            <a:ext cx="192024" cy="192024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9701784" y="1572768"/>
            <a:ext cx="2011680" cy="2944368"/>
          </a:xfrm>
          <a:prstGeom prst="roundRect">
            <a:avLst>
              <a:gd name="adj" fmla="val 2273"/>
            </a:avLst>
          </a:prstGeom>
          <a:solidFill>
            <a:srgbClr val="81C195"/>
          </a:solidFill>
          <a:ln/>
        </p:spPr>
      </p:sp>
      <p:sp>
        <p:nvSpPr>
          <p:cNvPr id="37" name="Shape 27"/>
          <p:cNvSpPr/>
          <p:nvPr/>
        </p:nvSpPr>
        <p:spPr>
          <a:xfrm>
            <a:off x="10479024" y="18105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11612" y="1943100"/>
            <a:ext cx="192024" cy="192024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9701784" y="23957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40" name="Text 29"/>
          <p:cNvSpPr/>
          <p:nvPr/>
        </p:nvSpPr>
        <p:spPr>
          <a:xfrm>
            <a:off x="9701784" y="26334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</a:t>
            </a:r>
            <a:endParaRPr lang="en-US" sz="1400" dirty="0"/>
          </a:p>
        </p:txBody>
      </p:sp>
      <p:sp>
        <p:nvSpPr>
          <p:cNvPr id="41" name="Text 30"/>
          <p:cNvSpPr/>
          <p:nvPr/>
        </p:nvSpPr>
        <p:spPr>
          <a:xfrm>
            <a:off x="9838944" y="2999232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2. Describe the change in natural language and regenerate, or edit the code directly.</a:t>
            </a:r>
            <a:endParaRPr lang="en-US" sz="1000" dirty="0"/>
          </a:p>
        </p:txBody>
      </p:sp>
      <p:sp>
        <p:nvSpPr>
          <p:cNvPr id="42" name="Text 31"/>
          <p:cNvSpPr/>
          <p:nvPr/>
        </p:nvSpPr>
        <p:spPr>
          <a:xfrm>
            <a:off x="9774936" y="415137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IN THE LOOP</a:t>
            </a:r>
            <a:endParaRPr lang="en-US" sz="750" dirty="0"/>
          </a:p>
        </p:txBody>
      </p:sp>
      <p:sp>
        <p:nvSpPr>
          <p:cNvPr id="43" name="Shape 32"/>
          <p:cNvSpPr/>
          <p:nvPr/>
        </p:nvSpPr>
        <p:spPr>
          <a:xfrm>
            <a:off x="484632" y="4892040"/>
            <a:ext cx="11228832" cy="1417320"/>
          </a:xfrm>
          <a:prstGeom prst="roundRect">
            <a:avLst>
              <a:gd name="adj" fmla="val 3226"/>
            </a:avLst>
          </a:prstGeom>
          <a:solidFill>
            <a:srgbClr val="F6FBF8"/>
          </a:solidFill>
          <a:ln w="12700">
            <a:solidFill>
              <a:srgbClr val="CFE7D7"/>
            </a:solidFill>
            <a:prstDash val="solid"/>
          </a:ln>
        </p:spPr>
      </p:sp>
      <p:sp>
        <p:nvSpPr>
          <p:cNvPr id="44" name="Shape 33"/>
          <p:cNvSpPr/>
          <p:nvPr/>
        </p:nvSpPr>
        <p:spPr>
          <a:xfrm>
            <a:off x="777240" y="5303520"/>
            <a:ext cx="548640" cy="548640"/>
          </a:xfrm>
          <a:prstGeom prst="ellipse">
            <a:avLst/>
          </a:prstGeom>
          <a:solidFill>
            <a:srgbClr val="81C195"/>
          </a:solidFill>
          <a:ln/>
        </p:spPr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6346" y="5462626"/>
            <a:ext cx="230429" cy="230429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1481328" y="51206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b="1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production-ready, Databricks-native PySpark, with 100% of the original business logic preserved.</a:t>
            </a:r>
            <a:endParaRPr lang="en-US" sz="1300" dirty="0"/>
          </a:p>
        </p:txBody>
      </p:sp>
      <p:sp>
        <p:nvSpPr>
          <p:cNvPr id="47" name="Text 35"/>
          <p:cNvSpPr/>
          <p:nvPr/>
        </p:nvSpPr>
        <p:spPr>
          <a:xfrm>
            <a:off x="1499616" y="5632704"/>
            <a:ext cx="6446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tool in this pack stops at automated conversion and hands the remainder back to your developers as unstructured rework. We give that rework a guided, repeatable loop.</a:t>
            </a:r>
            <a:endParaRPr lang="en-US" sz="1050" dirty="0"/>
          </a:p>
        </p:txBody>
      </p:sp>
      <p:sp>
        <p:nvSpPr>
          <p:cNvPr id="48" name="Text 36"/>
          <p:cNvSpPr/>
          <p:nvPr/>
        </p:nvSpPr>
        <p:spPr>
          <a:xfrm>
            <a:off x="8183880" y="532180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· client Azure tenant · standalone app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as you go, metered per conversion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" cy="603504"/>
          </a:xfrm>
          <a:prstGeom prst="ellipse">
            <a:avLst/>
          </a:prstGeom>
          <a:solidFill>
            <a:srgbClr val="40825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36576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4C9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LANDSCAPE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70432" y="5486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line up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863840" y="47548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vendor claims, side by side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11228832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572768"/>
                <a:gridCol w="1481328"/>
                <a:gridCol w="1371600"/>
                <a:gridCol w="1572768"/>
                <a:gridCol w="1572768"/>
                <a:gridCol w="132588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C1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Kumaran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82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30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Lakebridge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C1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30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LeapLogic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C1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30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 Partners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C1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30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Kanerika FLIP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C1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30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Travinto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C19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model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204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product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 CLI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+ services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Utility inside engagement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Low-code platform + services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suite + services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review before code generation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204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gate 1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9AAB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9AAB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published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Assessment-led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9AAB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published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9AAB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published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Natural-language code refinement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204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gate 2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9AAB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9AAB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AI-assisted steps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AI-enabled platform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9AAB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published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Reuse of shared logic across workflows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204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auto-detected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9AAB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published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9AAB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published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9AAB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published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9AAB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published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9AAB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published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Stated automation level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204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logic preserved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~80% of tasks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70–95%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95% time cut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70–80%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~90% time cut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204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 as you go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Licence + services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Engagement-based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Engagement-based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9AAB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published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inside client's own tenant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204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Azure or standalone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local CLI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9AAB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published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9AAB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published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9AAB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published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9AAB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published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204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PowerCenter → PySpark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10+ sources → DBSQL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10+ sources, multi-target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Any-to-any, multi-target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paths, multi-target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broad any-to-any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5989320"/>
            <a:ext cx="11228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i="1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from public vendor product pages, the Databricks Lakebridge announcement and Databricks Community threads, August 2026. “Not published” means the vendor does not advertise the capability — confirm it in a competitive deal before asserting it to a client.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21792" cy="621792"/>
          </a:xfrm>
          <a:prstGeom prst="ellipse">
            <a:avLst/>
          </a:prstGeom>
          <a:solidFill>
            <a:srgbClr val="81C19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4C9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BATTLECARD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88720" y="40233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Lakebridge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07008" y="8046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· open source (formerly BladeBridge)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973568" y="256032"/>
            <a:ext cx="3767328" cy="786384"/>
          </a:xfrm>
          <a:prstGeom prst="roundRect">
            <a:avLst>
              <a:gd name="adj" fmla="val 5814"/>
            </a:avLst>
          </a:prstGeom>
          <a:solidFill>
            <a:srgbClr val="81C195"/>
          </a:solidFill>
          <a:ln/>
        </p:spPr>
      </p:sp>
      <p:sp>
        <p:nvSpPr>
          <p:cNvPr id="8" name="Text 6"/>
          <p:cNvSpPr/>
          <p:nvPr/>
        </p:nvSpPr>
        <p:spPr>
          <a:xfrm>
            <a:off x="8174736" y="3474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FRAME THE DEAL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174736" y="530352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95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argue with free. Argue with the total cost of reaching production — then offer to measure it on their own workflows.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170432"/>
            <a:ext cx="3675888" cy="1664208"/>
          </a:xfrm>
          <a:prstGeom prst="roundRect">
            <a:avLst>
              <a:gd name="adj" fmla="val 2747"/>
            </a:avLst>
          </a:prstGeom>
          <a:solidFill>
            <a:srgbClr val="F6FBF8"/>
          </a:solidFill>
          <a:ln w="12700">
            <a:solidFill>
              <a:srgbClr val="CFE7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353312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528" y="1443472"/>
            <a:ext cx="130576" cy="13057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60704" y="133502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they are strong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76656" y="1792224"/>
            <a:ext cx="32369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and open source, published by Databricks itself.</a:t>
            </a:r>
            <a:endParaRPr lang="en-US" sz="950" dirty="0"/>
          </a:p>
          <a:p>
            <a:pPr marL="342900" indent="-342900">
              <a:lnSpc>
                <a:spcPct val="9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BladeBridge transpiler; analyser, converter, validator and reconciliation in one toolkit.</a:t>
            </a:r>
            <a:endParaRPr lang="en-US" sz="950" dirty="0"/>
          </a:p>
          <a:p>
            <a:pPr marL="342900" indent="-342900">
              <a:lnSpc>
                <a:spcPct val="9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obvious default when a client asks Databricks what to use.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7200" y="2999232"/>
            <a:ext cx="3675888" cy="3456432"/>
          </a:xfrm>
          <a:prstGeom prst="roundRect">
            <a:avLst>
              <a:gd name="adj" fmla="val 1323"/>
            </a:avLst>
          </a:prstGeom>
          <a:solidFill>
            <a:srgbClr val="EEF7F1"/>
          </a:solidFill>
          <a:ln w="12700">
            <a:solidFill>
              <a:srgbClr val="CFE7D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8368" y="3182112"/>
            <a:ext cx="310896" cy="310896"/>
          </a:xfrm>
          <a:prstGeom prst="ellipse">
            <a:avLst/>
          </a:prstGeom>
          <a:solidFill>
            <a:srgbClr val="D98A2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528" y="3272272"/>
            <a:ext cx="130576" cy="13057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60704" y="316382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they leave a gap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76656" y="3639312"/>
            <a:ext cx="3236976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CLI, not a product.  </a:t>
            </a:r>
            <a:pPr indent="0" marL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from the Databricks CLI. There is no review UI — a graphical interface is still on the roadmap, not shipped.</a:t>
            </a:r>
            <a:endParaRPr lang="en-US" sz="1050" dirty="0"/>
          </a:p>
          <a:p>
            <a:pPr indent="0" marL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partners, not end users.  </a:t>
            </a:r>
            <a:pPr indent="0" marL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expects deep configuration knowledge and fluency in the legacy source. Someone still has to run it.</a:t>
            </a:r>
            <a:endParaRPr lang="en-US" sz="1050" dirty="0"/>
          </a:p>
          <a:p>
            <a:pPr indent="0" marL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PowerCenter only.  </a:t>
            </a:r>
            <a:pPr indent="0" marL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threads report it does not handle Informatica BDM / DEI mappings, so mixed estates fall back to manual work.</a:t>
            </a:r>
            <a:endParaRPr lang="en-US" sz="1050" dirty="0"/>
          </a:p>
          <a:p>
            <a:pPr indent="0" marL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rework loop.  </a:t>
            </a:r>
            <a:pPr indent="0" marL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output is wrong, the fix is a developer editing PySpark by hand — and that is where the budget actually goes.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261104" y="1170432"/>
            <a:ext cx="3675888" cy="3456432"/>
          </a:xfrm>
          <a:prstGeom prst="roundRect">
            <a:avLst>
              <a:gd name="adj" fmla="val 1323"/>
            </a:avLst>
          </a:prstGeom>
          <a:solidFill>
            <a:srgbClr val="81C195"/>
          </a:solidFill>
          <a:ln/>
          <a:effectLst>
            <a:outerShdw sx="100000" sy="100000" kx="0" ky="0" algn="bl" rotWithShape="0" blurRad="127000" dist="25400" dir="5400000">
              <a:srgbClr val="1B3D2F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462272" y="135331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432" y="1443472"/>
            <a:ext cx="130576" cy="13057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864608" y="133502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Kumaran wins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4480560" y="1828800"/>
            <a:ext cx="3236976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tool, expensive migration.  </a:t>
            </a:r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licence was never the cost. The majority of a migration is developer rework and validation — that is the line item we attack.</a:t>
            </a:r>
            <a:endParaRPr lang="en-US" sz="1050" dirty="0"/>
          </a:p>
          <a:p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your team can use.  </a:t>
            </a:r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review, migrate, refine. No CLI fluency, no config archaeology, no dependency on an SI to operate the tool.</a:t>
            </a:r>
            <a:endParaRPr lang="en-US" sz="1050" dirty="0"/>
          </a:p>
          <a:p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loops are guided.  </a:t>
            </a:r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catches misread mappings before code exists. Gate 2 fixes generated code by description instead of by hand.</a:t>
            </a:r>
            <a:endParaRPr lang="en-US" sz="1050" dirty="0"/>
          </a:p>
          <a:p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logic converted once.  </a:t>
            </a:r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analysis references common parameters and repeated transformations rather than emitting the same block hundreds of times.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261104" y="4809744"/>
            <a:ext cx="3675888" cy="1645920"/>
          </a:xfrm>
          <a:prstGeom prst="roundRect">
            <a:avLst>
              <a:gd name="adj" fmla="val 2778"/>
            </a:avLst>
          </a:prstGeom>
          <a:solidFill>
            <a:srgbClr val="EEF7F1"/>
          </a:solidFill>
          <a:ln w="12700">
            <a:solidFill>
              <a:srgbClr val="CFE7D7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462272" y="4956048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2432" y="5046208"/>
            <a:ext cx="130576" cy="13057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864608" y="4937760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point that answers them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4480560" y="5358384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082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400" dirty="0"/>
          </a:p>
        </p:txBody>
      </p:sp>
      <p:sp>
        <p:nvSpPr>
          <p:cNvPr id="30" name="Text 24"/>
          <p:cNvSpPr/>
          <p:nvPr/>
        </p:nvSpPr>
        <p:spPr>
          <a:xfrm>
            <a:off x="4489704" y="57607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88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migration cost</a:t>
            </a:r>
            <a:endParaRPr lang="en-US" sz="88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88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a manual rewrite</a:t>
            </a:r>
            <a:endParaRPr lang="en-US" sz="880" dirty="0"/>
          </a:p>
        </p:txBody>
      </p:sp>
      <p:sp>
        <p:nvSpPr>
          <p:cNvPr id="31" name="Text 25"/>
          <p:cNvSpPr/>
          <p:nvPr/>
        </p:nvSpPr>
        <p:spPr>
          <a:xfrm>
            <a:off x="5705856" y="5376672"/>
            <a:ext cx="2011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1000"/>
              </a:spcAft>
              <a:buSzPct val="100000"/>
              <a:buChar char="•"/>
            </a:pPr>
            <a:r>
              <a:rPr lang="en-US" sz="9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Metered per conversion — no licence, and no CLI specialist to hire.</a:t>
            </a:r>
            <a:endParaRPr lang="en-US" sz="900" dirty="0"/>
          </a:p>
          <a:p>
            <a:pPr marL="342900" indent="-342900">
              <a:lnSpc>
                <a:spcPct val="95000"/>
              </a:lnSpc>
              <a:spcAft>
                <a:spcPts val="1000"/>
              </a:spcAft>
              <a:buSzPct val="100000"/>
              <a:buChar char="•"/>
            </a:pPr>
            <a:r>
              <a:rPr lang="en-US" sz="9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review gates plus reuse detection remove the rework a transpiler hands back.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8065008" y="1170432"/>
            <a:ext cx="3675888" cy="2651760"/>
          </a:xfrm>
          <a:prstGeom prst="roundRect">
            <a:avLst>
              <a:gd name="adj" fmla="val 1724"/>
            </a:avLst>
          </a:prstGeom>
          <a:solidFill>
            <a:srgbClr val="F6FBF8"/>
          </a:solidFill>
          <a:ln w="12700">
            <a:solidFill>
              <a:srgbClr val="CFE7D7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8266176" y="1353312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6336" y="1443472"/>
            <a:ext cx="130576" cy="13057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668512" y="133502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they say… you say…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8284464" y="1792224"/>
            <a:ext cx="32369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“Databricks gives it away free — why would we pay you?”</a:t>
            </a:r>
            <a:endParaRPr lang="en-US" sz="950" dirty="0"/>
          </a:p>
          <a:p>
            <a:pPr indent="0" marL="0">
              <a:lnSpc>
                <a:spcPct val="94000"/>
              </a:lnSpc>
              <a:spcAft>
                <a:spcPts val="900"/>
              </a:spcAft>
              <a:buNone/>
            </a:pPr>
            <a:r>
              <a:rPr lang="en-US" sz="92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you are not buying a transpiler, you are buying the elimination of rework. Run both on your twenty hardest workflows and count the developer-days to production. That number is the whole decision.</a:t>
            </a:r>
            <a:endParaRPr lang="en-US" sz="950" dirty="0"/>
          </a:p>
          <a:p>
            <a:pPr indent="0" marL="0">
              <a:lnSpc>
                <a:spcPct val="94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comes from Databricks, so it must be the safest choice.”</a:t>
            </a:r>
            <a:endParaRPr lang="en-US" sz="950" dirty="0"/>
          </a:p>
          <a:p>
            <a:pPr indent="0" marL="0">
              <a:lnSpc>
                <a:spcPct val="94000"/>
              </a:lnSpc>
              <a:spcAft>
                <a:spcPts val="900"/>
              </a:spcAft>
              <a:buNone/>
            </a:pPr>
            <a:r>
              <a:rPr lang="en-US" sz="92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genuinely good engine, and ours targets the same platform. The difference is everything wrapped around the engine: review gates, reuse detection, and a UI your developers can operate.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8065008" y="4005072"/>
            <a:ext cx="3675888" cy="2450592"/>
          </a:xfrm>
          <a:prstGeom prst="roundRect">
            <a:avLst>
              <a:gd name="adj" fmla="val 1866"/>
            </a:avLst>
          </a:prstGeom>
          <a:solidFill>
            <a:srgbClr val="F6FBF8"/>
          </a:solidFill>
          <a:ln w="12700">
            <a:solidFill>
              <a:srgbClr val="CFE7D7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8266176" y="4169664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6336" y="4259824"/>
            <a:ext cx="130576" cy="13057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668512" y="4151376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questions</a:t>
            </a:r>
            <a:endParaRPr lang="en-US" sz="1250" dirty="0"/>
          </a:p>
        </p:txBody>
      </p:sp>
      <p:sp>
        <p:nvSpPr>
          <p:cNvPr id="41" name="Text 33"/>
          <p:cNvSpPr/>
          <p:nvPr/>
        </p:nvSpPr>
        <p:spPr>
          <a:xfrm>
            <a:off x="8284464" y="4608576"/>
            <a:ext cx="323697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1100"/>
              </a:spcAft>
              <a:buSzPct val="100000"/>
              <a:buChar char="•"/>
            </a:pPr>
            <a:r>
              <a:rPr lang="en-US" sz="98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on your team will run and configure the CLI, and what happens when they move on?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1100"/>
              </a:spcAft>
              <a:buSzPct val="100000"/>
              <a:buChar char="•"/>
            </a:pPr>
            <a:r>
              <a:rPr lang="en-US" sz="98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have Informatica BDM or Developer mappings in scope alongside PowerCenter?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1100"/>
              </a:spcAft>
              <a:buSzPct val="100000"/>
              <a:buChar char="•"/>
            </a:pPr>
            <a:r>
              <a:rPr lang="en-US" sz="98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transpiler produces code, what is your process for reviewing and correcting it?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1100"/>
              </a:spcAft>
              <a:buSzPct val="100000"/>
              <a:buChar char="•"/>
            </a:pPr>
            <a:r>
              <a:rPr lang="en-US" sz="98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your estimate for developer rework after conversion, and how confident are you in it?</a:t>
            </a:r>
            <a:endParaRPr lang="en-US" sz="980" dirty="0"/>
          </a:p>
        </p:txBody>
      </p:sp>
      <p:sp>
        <p:nvSpPr>
          <p:cNvPr id="42" name="Text 34"/>
          <p:cNvSpPr/>
          <p:nvPr/>
        </p:nvSpPr>
        <p:spPr>
          <a:xfrm>
            <a:off x="457200" y="6528816"/>
            <a:ext cx="11265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B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internal use only  ·  Kumaran Systems  ·  August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21792" cy="621792"/>
          </a:xfrm>
          <a:prstGeom prst="ellipse">
            <a:avLst/>
          </a:prstGeom>
          <a:solidFill>
            <a:srgbClr val="81C19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4C9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BATTLECARD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88720" y="40233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LeapLogic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07008" y="8046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Impetus Technologies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973568" y="256032"/>
            <a:ext cx="3767328" cy="786384"/>
          </a:xfrm>
          <a:prstGeom prst="roundRect">
            <a:avLst>
              <a:gd name="adj" fmla="val 5814"/>
            </a:avLst>
          </a:prstGeom>
          <a:solidFill>
            <a:srgbClr val="81C195"/>
          </a:solidFill>
          <a:ln/>
        </p:spPr>
      </p:sp>
      <p:sp>
        <p:nvSpPr>
          <p:cNvPr id="8" name="Text 6"/>
          <p:cNvSpPr/>
          <p:nvPr/>
        </p:nvSpPr>
        <p:spPr>
          <a:xfrm>
            <a:off x="8174736" y="3474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FRAME THE DEAL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174736" y="530352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95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fight the logo. Move the conversation from credentials to generated code, and propose the side-by-side comparison.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170432"/>
            <a:ext cx="3675888" cy="1664208"/>
          </a:xfrm>
          <a:prstGeom prst="roundRect">
            <a:avLst>
              <a:gd name="adj" fmla="val 2747"/>
            </a:avLst>
          </a:prstGeom>
          <a:solidFill>
            <a:srgbClr val="F6FBF8"/>
          </a:solidFill>
          <a:ln w="12700">
            <a:solidFill>
              <a:srgbClr val="CFE7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353312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528" y="1443472"/>
            <a:ext cx="130576" cy="13057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60704" y="133502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they are strong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76656" y="1792224"/>
            <a:ext cx="32369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Brickbuilder founding partner and 2024 Databricks Migration Partner of the Year.</a:t>
            </a:r>
            <a:endParaRPr lang="en-US" sz="950" dirty="0"/>
          </a:p>
          <a:p>
            <a:pPr marL="342900" indent="-342900">
              <a:lnSpc>
                <a:spcPct val="9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broad coverage — Teradata, SAS, Ab Initio, DataStage, Oracle, Talend, Hadoop.</a:t>
            </a:r>
            <a:endParaRPr lang="en-US" sz="950" dirty="0"/>
          </a:p>
          <a:p>
            <a:pPr marL="342900" indent="-342900">
              <a:lnSpc>
                <a:spcPct val="9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500 references on multi-thousand-workload programmes.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7200" y="2999232"/>
            <a:ext cx="3675888" cy="3456432"/>
          </a:xfrm>
          <a:prstGeom prst="roundRect">
            <a:avLst>
              <a:gd name="adj" fmla="val 1323"/>
            </a:avLst>
          </a:prstGeom>
          <a:solidFill>
            <a:srgbClr val="EEF7F1"/>
          </a:solidFill>
          <a:ln w="12700">
            <a:solidFill>
              <a:srgbClr val="CFE7D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8368" y="3182112"/>
            <a:ext cx="310896" cy="310896"/>
          </a:xfrm>
          <a:prstGeom prst="ellipse">
            <a:avLst/>
          </a:prstGeom>
          <a:solidFill>
            <a:srgbClr val="D98A2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528" y="3272272"/>
            <a:ext cx="130576" cy="13057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60704" y="316382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they leave a gap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76656" y="3639312"/>
            <a:ext cx="3236976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Sized for mega-programmes.  </a:t>
            </a:r>
            <a:pPr indent="0" marL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commercial and delivery model is shaped around large multi-quarter engagements. A 200-workflow client pays enterprise entry costs.</a:t>
            </a:r>
            <a:endParaRPr lang="en-US" sz="1050" dirty="0"/>
          </a:p>
          <a:p>
            <a:pPr indent="0" marL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Automation, not authorship.  </a:t>
            </a:r>
            <a:pPr indent="0" marL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claims run 70–95% automated. The residual is manual rework by your developers, outside any guided loop.</a:t>
            </a:r>
            <a:endParaRPr lang="en-US" sz="1050" dirty="0"/>
          </a:p>
          <a:p>
            <a:pPr indent="0" marL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plain-English regeneration.  </a:t>
            </a:r>
            <a:pPr indent="0" marL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Correcting output means re-running the engine or hand-editing, not describing the change and regenerating it.</a:t>
            </a:r>
            <a:endParaRPr lang="en-US" sz="1050" dirty="0"/>
          </a:p>
          <a:p>
            <a:pPr indent="0" marL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plus implementation.  </a:t>
            </a:r>
            <a:pPr indent="0" marL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metered model that lets a client start with one subject area and expand only if the output holds up.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261104" y="1170432"/>
            <a:ext cx="3675888" cy="3456432"/>
          </a:xfrm>
          <a:prstGeom prst="roundRect">
            <a:avLst>
              <a:gd name="adj" fmla="val 1323"/>
            </a:avLst>
          </a:prstGeom>
          <a:solidFill>
            <a:srgbClr val="81C195"/>
          </a:solidFill>
          <a:ln/>
          <a:effectLst>
            <a:outerShdw sx="100000" sy="100000" kx="0" ky="0" algn="bl" rotWithShape="0" blurRad="127000" dist="25400" dir="5400000">
              <a:srgbClr val="1B3D2F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462272" y="135331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432" y="1443472"/>
            <a:ext cx="130576" cy="13057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864608" y="133502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Kumaran wins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4480560" y="1828800"/>
            <a:ext cx="3236976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beats breadth here.  </a:t>
            </a:r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one path. Every engineering hour goes into PowerCenter-to-PySpark fidelity on the platform the client actually has to move.</a:t>
            </a:r>
            <a:endParaRPr lang="en-US" sz="1050" dirty="0"/>
          </a:p>
          <a:p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gates, not one pass.  </a:t>
            </a:r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Mappings are corrected before generation and code is reshaped after it. Errors surface twice before UAT, not once during it.</a:t>
            </a:r>
            <a:endParaRPr lang="en-US" sz="1050" dirty="0"/>
          </a:p>
          <a:p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small, pay per conversion.  </a:t>
            </a:r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as you go removes the licence decision from the pilot. The client proves the tool on real workflows before committing budget.</a:t>
            </a:r>
            <a:endParaRPr lang="en-US" sz="1050" dirty="0"/>
          </a:p>
          <a:p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data never moves.  </a:t>
            </a:r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 the client's own Azure subscription or as a standalone app. Source XML and generated code stay inside their boundary.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261104" y="4809744"/>
            <a:ext cx="3675888" cy="1645920"/>
          </a:xfrm>
          <a:prstGeom prst="roundRect">
            <a:avLst>
              <a:gd name="adj" fmla="val 2778"/>
            </a:avLst>
          </a:prstGeom>
          <a:solidFill>
            <a:srgbClr val="EEF7F1"/>
          </a:solidFill>
          <a:ln w="12700">
            <a:solidFill>
              <a:srgbClr val="CFE7D7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462272" y="4956048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2432" y="5046208"/>
            <a:ext cx="130576" cy="13057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864608" y="4937760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point that answers them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4480560" y="5358384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082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30" name="Text 24"/>
          <p:cNvSpPr/>
          <p:nvPr/>
        </p:nvSpPr>
        <p:spPr>
          <a:xfrm>
            <a:off x="4489704" y="57607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88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88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88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preserved end to end</a:t>
            </a:r>
            <a:endParaRPr lang="en-US" sz="880" dirty="0"/>
          </a:p>
        </p:txBody>
      </p:sp>
      <p:sp>
        <p:nvSpPr>
          <p:cNvPr id="31" name="Text 25"/>
          <p:cNvSpPr/>
          <p:nvPr/>
        </p:nvSpPr>
        <p:spPr>
          <a:xfrm>
            <a:off x="5705856" y="5376672"/>
            <a:ext cx="2011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1000"/>
              </a:spcAft>
              <a:buSzPct val="100000"/>
              <a:buChar char="•"/>
            </a:pPr>
            <a:r>
              <a:rPr lang="en-US" sz="9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source, one target — no engineering split across ten legacy platforms.</a:t>
            </a:r>
            <a:endParaRPr lang="en-US" sz="900" dirty="0"/>
          </a:p>
          <a:p>
            <a:pPr marL="342900" indent="-342900">
              <a:lnSpc>
                <a:spcPct val="95000"/>
              </a:lnSpc>
              <a:spcAft>
                <a:spcPts val="1000"/>
              </a:spcAft>
              <a:buSzPct val="100000"/>
              <a:buChar char="•"/>
            </a:pPr>
            <a:r>
              <a:rPr lang="en-US" sz="9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surface twice before UAT: once at the mapping, once at the generated code.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8065008" y="1170432"/>
            <a:ext cx="3675888" cy="2651760"/>
          </a:xfrm>
          <a:prstGeom prst="roundRect">
            <a:avLst>
              <a:gd name="adj" fmla="val 1724"/>
            </a:avLst>
          </a:prstGeom>
          <a:solidFill>
            <a:srgbClr val="F6FBF8"/>
          </a:solidFill>
          <a:ln w="12700">
            <a:solidFill>
              <a:srgbClr val="CFE7D7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8266176" y="1353312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6336" y="1443472"/>
            <a:ext cx="130576" cy="13057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668512" y="133502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they say… you say…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8284464" y="1792224"/>
            <a:ext cx="32369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“Impetus is an award-winning Databricks partner and you are not.”</a:t>
            </a:r>
            <a:endParaRPr lang="en-US" sz="950" dirty="0"/>
          </a:p>
          <a:p>
            <a:pPr indent="0" marL="0">
              <a:lnSpc>
                <a:spcPct val="94000"/>
              </a:lnSpc>
              <a:spcAft>
                <a:spcPts val="900"/>
              </a:spcAft>
              <a:buNone/>
            </a:pPr>
            <a:r>
              <a:rPr lang="en-US" sz="92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awards are earned on programme volume and they are real — but they are not a statement about the PySpark on the page. Give us your ten most complex workflows for two weeks and compare the generated code.</a:t>
            </a:r>
            <a:endParaRPr lang="en-US" sz="950" dirty="0"/>
          </a:p>
          <a:p>
            <a:pPr indent="0" marL="0">
              <a:lnSpc>
                <a:spcPct val="94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“LeapLogic covers ten source platforms — you only cover Informatica.”</a:t>
            </a:r>
            <a:endParaRPr lang="en-US" sz="950" dirty="0"/>
          </a:p>
          <a:p>
            <a:pPr indent="0" marL="0">
              <a:lnSpc>
                <a:spcPct val="94000"/>
              </a:lnSpc>
              <a:spcAft>
                <a:spcPts val="900"/>
              </a:spcAft>
              <a:buNone/>
            </a:pPr>
            <a:r>
              <a:rPr lang="en-US" sz="92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Correct, and deliberate. You are moving PowerCenter, not ten platforms. Buy the tool that is deepest on the problem actually in front of you.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8065008" y="4005072"/>
            <a:ext cx="3675888" cy="2450592"/>
          </a:xfrm>
          <a:prstGeom prst="roundRect">
            <a:avLst>
              <a:gd name="adj" fmla="val 1866"/>
            </a:avLst>
          </a:prstGeom>
          <a:solidFill>
            <a:srgbClr val="F6FBF8"/>
          </a:solidFill>
          <a:ln w="12700">
            <a:solidFill>
              <a:srgbClr val="CFE7D7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8266176" y="4169664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6336" y="4259824"/>
            <a:ext cx="130576" cy="13057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668512" y="4151376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questions</a:t>
            </a:r>
            <a:endParaRPr lang="en-US" sz="1250" dirty="0"/>
          </a:p>
        </p:txBody>
      </p:sp>
      <p:sp>
        <p:nvSpPr>
          <p:cNvPr id="41" name="Text 33"/>
          <p:cNvSpPr/>
          <p:nvPr/>
        </p:nvSpPr>
        <p:spPr>
          <a:xfrm>
            <a:off x="8284464" y="4608576"/>
            <a:ext cx="323697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1100"/>
              </a:spcAft>
              <a:buSzPct val="100000"/>
              <a:buChar char="•"/>
            </a:pPr>
            <a:r>
              <a:rPr lang="en-US" sz="98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proportion of your workflows share the same parameters, lookups and reusable transformations?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1100"/>
              </a:spcAft>
              <a:buSzPct val="100000"/>
              <a:buChar char="•"/>
            </a:pPr>
            <a:r>
              <a:rPr lang="en-US" sz="98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engine reads a mapping wrong, what is the loop to fix it and who absorbs that cost?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1100"/>
              </a:spcAft>
              <a:buSzPct val="100000"/>
              <a:buChar char="•"/>
            </a:pPr>
            <a:r>
              <a:rPr lang="en-US" sz="98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commercial model change if the scope is 200 workflows rather than 2,000?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1100"/>
              </a:spcAft>
              <a:buSzPct val="100000"/>
              <a:buChar char="•"/>
            </a:pPr>
            <a:r>
              <a:rPr lang="en-US" sz="98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paying for capability across ten source platforms, or depth on the one you are moving?</a:t>
            </a:r>
            <a:endParaRPr lang="en-US" sz="980" dirty="0"/>
          </a:p>
        </p:txBody>
      </p:sp>
      <p:sp>
        <p:nvSpPr>
          <p:cNvPr id="42" name="Text 34"/>
          <p:cNvSpPr/>
          <p:nvPr/>
        </p:nvSpPr>
        <p:spPr>
          <a:xfrm>
            <a:off x="457200" y="6528816"/>
            <a:ext cx="11265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B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internal use only  ·  Kumaran Systems  ·  August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21792" cy="621792"/>
          </a:xfrm>
          <a:prstGeom prst="ellipse">
            <a:avLst/>
          </a:prstGeom>
          <a:solidFill>
            <a:srgbClr val="81C19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4C9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BATTLECARD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88720" y="40233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Partners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07008" y="8046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DataBridge Suite · Informatica-to-Databricks Migration Utility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973568" y="256032"/>
            <a:ext cx="3767328" cy="786384"/>
          </a:xfrm>
          <a:prstGeom prst="roundRect">
            <a:avLst>
              <a:gd name="adj" fmla="val 5814"/>
            </a:avLst>
          </a:prstGeom>
          <a:solidFill>
            <a:srgbClr val="81C195"/>
          </a:solidFill>
          <a:ln/>
        </p:spPr>
      </p:sp>
      <p:sp>
        <p:nvSpPr>
          <p:cNvPr id="8" name="Text 6"/>
          <p:cNvSpPr/>
          <p:nvPr/>
        </p:nvSpPr>
        <p:spPr>
          <a:xfrm>
            <a:off x="8174736" y="3474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FRAME THE DEAL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174736" y="530352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95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the tool from the retainer. Position a product the client's own team keeps running after the programme closes.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170432"/>
            <a:ext cx="3675888" cy="1664208"/>
          </a:xfrm>
          <a:prstGeom prst="roundRect">
            <a:avLst>
              <a:gd name="adj" fmla="val 2747"/>
            </a:avLst>
          </a:prstGeom>
          <a:solidFill>
            <a:srgbClr val="F6FBF8"/>
          </a:solidFill>
          <a:ln w="12700">
            <a:solidFill>
              <a:srgbClr val="CFE7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353312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528" y="1443472"/>
            <a:ext cx="130576" cy="13057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60704" y="133502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they are strong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76656" y="1792224"/>
            <a:ext cx="32369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utility inside a wider suite spanning Databricks, Snowflake, Fabric and BigQuery.</a:t>
            </a:r>
            <a:endParaRPr lang="en-US" sz="950" dirty="0"/>
          </a:p>
          <a:p>
            <a:pPr marL="342900" indent="-342900">
              <a:lnSpc>
                <a:spcPct val="9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Assessment-first method with validation gates, which clients find reassuring.</a:t>
            </a:r>
            <a:endParaRPr lang="en-US" sz="950" dirty="0"/>
          </a:p>
          <a:p>
            <a:pPr marL="342900" indent="-342900">
              <a:lnSpc>
                <a:spcPct val="9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manufacturing case study citing large cost and delivery-time reductions.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7200" y="2999232"/>
            <a:ext cx="3675888" cy="3456432"/>
          </a:xfrm>
          <a:prstGeom prst="roundRect">
            <a:avLst>
              <a:gd name="adj" fmla="val 1323"/>
            </a:avLst>
          </a:prstGeom>
          <a:solidFill>
            <a:srgbClr val="EEF7F1"/>
          </a:solidFill>
          <a:ln w="12700">
            <a:solidFill>
              <a:srgbClr val="CFE7D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8368" y="3182112"/>
            <a:ext cx="310896" cy="310896"/>
          </a:xfrm>
          <a:prstGeom prst="ellipse">
            <a:avLst/>
          </a:prstGeom>
          <a:solidFill>
            <a:srgbClr val="D98A2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528" y="3272272"/>
            <a:ext cx="130576" cy="13057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60704" y="316382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they leave a gap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76656" y="3639312"/>
            <a:ext cx="3236976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is the door, not the deal.  </a:t>
            </a:r>
            <a:pPr indent="0" marL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sold through a demo and a PoV into a consulting engagement. The client buys people; the utility comes along with them.</a:t>
            </a:r>
            <a:endParaRPr lang="en-US" sz="1050" dirty="0"/>
          </a:p>
          <a:p>
            <a:pPr indent="0" marL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published pricing.  </a:t>
            </a:r>
            <a:pPr indent="0" marL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lets a client model cost per workflow before committing. Scope changes land as change requests.</a:t>
            </a:r>
            <a:endParaRPr lang="en-US" sz="1050" dirty="0"/>
          </a:p>
          <a:p>
            <a:pPr indent="0" marL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across many targets.  </a:t>
            </a:r>
            <a:pPr indent="0" marL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accelerator is pointed at Snowflake, Fabric and BigQuery. Engineering attention is spread across every path.</a:t>
            </a:r>
            <a:endParaRPr lang="en-US" sz="1050" dirty="0"/>
          </a:p>
          <a:p>
            <a:pPr indent="0" marL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control is unclear.  </a:t>
            </a:r>
            <a:pPr indent="0" marL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published shows developers editing mappings before generation or steering the generated code afterwards.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261104" y="1170432"/>
            <a:ext cx="3675888" cy="3456432"/>
          </a:xfrm>
          <a:prstGeom prst="roundRect">
            <a:avLst>
              <a:gd name="adj" fmla="val 1323"/>
            </a:avLst>
          </a:prstGeom>
          <a:solidFill>
            <a:srgbClr val="81C195"/>
          </a:solidFill>
          <a:ln/>
          <a:effectLst>
            <a:outerShdw sx="100000" sy="100000" kx="0" ky="0" algn="bl" rotWithShape="0" blurRad="127000" dist="25400" dir="5400000">
              <a:srgbClr val="1B3D2F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462272" y="135331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432" y="1443472"/>
            <a:ext cx="130576" cy="13057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864608" y="133502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Kumaran wins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4480560" y="1828800"/>
            <a:ext cx="3236976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the tool, not the retainer.  </a:t>
            </a:r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developers run it, on your schedule. The capability stays in the client's team after the programme ends.</a:t>
            </a:r>
            <a:endParaRPr lang="en-US" sz="1050" dirty="0"/>
          </a:p>
          <a:p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the client can model.  </a:t>
            </a:r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Metered per conversion. Finance can build the business case from workflow counts before a single contract is signed.</a:t>
            </a:r>
            <a:endParaRPr lang="en-US" sz="1050" dirty="0"/>
          </a:p>
          <a:p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Inspectable at both ends.  </a:t>
            </a:r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Mappings are reviewed before generation and PySpark is refined after. Nothing is a black box the client has to take on trust.</a:t>
            </a:r>
            <a:endParaRPr lang="en-US" sz="1050" dirty="0"/>
          </a:p>
          <a:p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Single-path focus.  </a:t>
            </a:r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source, one target, one grammar to get right. That concentration is what buys the last few percent of fidelity.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261104" y="4809744"/>
            <a:ext cx="3675888" cy="1645920"/>
          </a:xfrm>
          <a:prstGeom prst="roundRect">
            <a:avLst>
              <a:gd name="adj" fmla="val 2778"/>
            </a:avLst>
          </a:prstGeom>
          <a:solidFill>
            <a:srgbClr val="EEF7F1"/>
          </a:solidFill>
          <a:ln w="12700">
            <a:solidFill>
              <a:srgbClr val="CFE7D7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462272" y="4956048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2432" y="5046208"/>
            <a:ext cx="130576" cy="13057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864608" y="4937760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point that answers them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4480560" y="5358384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082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</a:t>
            </a:r>
            <a:endParaRPr lang="en-US" sz="2400" dirty="0"/>
          </a:p>
        </p:txBody>
      </p:sp>
      <p:sp>
        <p:nvSpPr>
          <p:cNvPr id="30" name="Text 24"/>
          <p:cNvSpPr/>
          <p:nvPr/>
        </p:nvSpPr>
        <p:spPr>
          <a:xfrm>
            <a:off x="4489704" y="57607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88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to production-</a:t>
            </a:r>
            <a:endParaRPr lang="en-US" sz="88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88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code</a:t>
            </a:r>
            <a:endParaRPr lang="en-US" sz="880" dirty="0"/>
          </a:p>
        </p:txBody>
      </p:sp>
      <p:sp>
        <p:nvSpPr>
          <p:cNvPr id="31" name="Text 25"/>
          <p:cNvSpPr/>
          <p:nvPr/>
        </p:nvSpPr>
        <p:spPr>
          <a:xfrm>
            <a:off x="5705856" y="5376672"/>
            <a:ext cx="2011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1000"/>
              </a:spcAft>
              <a:buSzPct val="100000"/>
              <a:buChar char="•"/>
            </a:pPr>
            <a:r>
              <a:rPr lang="en-US" sz="9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is licensed to the client — their own team runs it after go-live.</a:t>
            </a:r>
            <a:endParaRPr lang="en-US" sz="900" dirty="0"/>
          </a:p>
          <a:p>
            <a:pPr marL="342900" indent="-342900">
              <a:lnSpc>
                <a:spcPct val="95000"/>
              </a:lnSpc>
              <a:spcAft>
                <a:spcPts val="1000"/>
              </a:spcAft>
              <a:buSzPct val="100000"/>
              <a:buChar char="•"/>
            </a:pPr>
            <a:r>
              <a:rPr lang="en-US" sz="9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modelled per workflow before signature, not discovered after an assessment.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8065008" y="1170432"/>
            <a:ext cx="3675888" cy="2651760"/>
          </a:xfrm>
          <a:prstGeom prst="roundRect">
            <a:avLst>
              <a:gd name="adj" fmla="val 1724"/>
            </a:avLst>
          </a:prstGeom>
          <a:solidFill>
            <a:srgbClr val="F6FBF8"/>
          </a:solidFill>
          <a:ln w="12700">
            <a:solidFill>
              <a:srgbClr val="CFE7D7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8266176" y="1353312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6336" y="1443472"/>
            <a:ext cx="130576" cy="13057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668512" y="133502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they say… you say…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8284464" y="1792224"/>
            <a:ext cx="32369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would rather have a partner who owns the whole programme.”</a:t>
            </a:r>
            <a:endParaRPr lang="en-US" sz="950" dirty="0"/>
          </a:p>
          <a:p>
            <a:pPr indent="0" marL="0">
              <a:lnSpc>
                <a:spcPct val="94000"/>
              </a:lnSpc>
              <a:spcAft>
                <a:spcPts val="900"/>
              </a:spcAft>
              <a:buNone/>
            </a:pPr>
            <a:r>
              <a:rPr lang="en-US" sz="92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use us for the conversion engine and keep whoever you trust for programme delivery. The tool does not require our people — which means it does not lock you into our rate card either.</a:t>
            </a:r>
            <a:endParaRPr lang="en-US" sz="950" dirty="0"/>
          </a:p>
          <a:p>
            <a:pPr indent="0" marL="0">
              <a:lnSpc>
                <a:spcPct val="94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“Their case study shows a 67% cost reduction.”</a:t>
            </a:r>
            <a:endParaRPr lang="en-US" sz="950" dirty="0"/>
          </a:p>
          <a:p>
            <a:pPr indent="0" marL="0">
              <a:lnSpc>
                <a:spcPct val="94000"/>
              </a:lnSpc>
              <a:spcAft>
                <a:spcPts val="900"/>
              </a:spcAft>
              <a:buNone/>
            </a:pPr>
            <a:r>
              <a:rPr lang="en-US" sz="92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are measured against a manual rewrite too — 75% lower cost, 3X faster, full logic preservation. Neither number means anything until it is measured on your workflows, which is what a two-week PoC is for.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8065008" y="4005072"/>
            <a:ext cx="3675888" cy="2450592"/>
          </a:xfrm>
          <a:prstGeom prst="roundRect">
            <a:avLst>
              <a:gd name="adj" fmla="val 1866"/>
            </a:avLst>
          </a:prstGeom>
          <a:solidFill>
            <a:srgbClr val="F6FBF8"/>
          </a:solidFill>
          <a:ln w="12700">
            <a:solidFill>
              <a:srgbClr val="CFE7D7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8266176" y="4169664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6336" y="4259824"/>
            <a:ext cx="130576" cy="13057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668512" y="4151376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questions</a:t>
            </a:r>
            <a:endParaRPr lang="en-US" sz="1250" dirty="0"/>
          </a:p>
        </p:txBody>
      </p:sp>
      <p:sp>
        <p:nvSpPr>
          <p:cNvPr id="41" name="Text 33"/>
          <p:cNvSpPr/>
          <p:nvPr/>
        </p:nvSpPr>
        <p:spPr>
          <a:xfrm>
            <a:off x="8284464" y="4608576"/>
            <a:ext cx="323697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1100"/>
              </a:spcAft>
              <a:buSzPct val="100000"/>
              <a:buChar char="•"/>
            </a:pPr>
            <a:r>
              <a:rPr lang="en-US" sz="98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utility licensed to you, or only available while their consultants are on site?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1100"/>
              </a:spcAft>
              <a:buSzPct val="100000"/>
              <a:buChar char="•"/>
            </a:pPr>
            <a:r>
              <a:rPr lang="en-US" sz="98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go-live, can your own developers run another conversion without re-engaging them?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1100"/>
              </a:spcAft>
              <a:buSzPct val="100000"/>
              <a:buChar char="•"/>
            </a:pPr>
            <a:r>
              <a:rPr lang="en-US" sz="98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scope change cost once the engagement is priced?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1100"/>
              </a:spcAft>
              <a:buSzPct val="100000"/>
              <a:buChar char="•"/>
            </a:pPr>
            <a:r>
              <a:rPr lang="en-US" sz="98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finance model a cost per workflow today, or only after the assessment?</a:t>
            </a:r>
            <a:endParaRPr lang="en-US" sz="980" dirty="0"/>
          </a:p>
        </p:txBody>
      </p:sp>
      <p:sp>
        <p:nvSpPr>
          <p:cNvPr id="42" name="Text 34"/>
          <p:cNvSpPr/>
          <p:nvPr/>
        </p:nvSpPr>
        <p:spPr>
          <a:xfrm>
            <a:off x="457200" y="6528816"/>
            <a:ext cx="11265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B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internal use only  ·  Kumaran Systems  ·  August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21792" cy="621792"/>
          </a:xfrm>
          <a:prstGeom prst="ellipse">
            <a:avLst/>
          </a:prstGeom>
          <a:solidFill>
            <a:srgbClr val="81C19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4C9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BATTLECARD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88720" y="40233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07008" y="8046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Kanerika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973568" y="256032"/>
            <a:ext cx="3767328" cy="786384"/>
          </a:xfrm>
          <a:prstGeom prst="roundRect">
            <a:avLst>
              <a:gd name="adj" fmla="val 5814"/>
            </a:avLst>
          </a:prstGeom>
          <a:solidFill>
            <a:srgbClr val="81C195"/>
          </a:solidFill>
          <a:ln/>
        </p:spPr>
      </p:sp>
      <p:sp>
        <p:nvSpPr>
          <p:cNvPr id="8" name="Text 6"/>
          <p:cNvSpPr/>
          <p:nvPr/>
        </p:nvSpPr>
        <p:spPr>
          <a:xfrm>
            <a:off x="8174736" y="3474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FRAME THE DEAL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174736" y="530352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95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Concede the certifications, then move the conversation to the last 20% and to where the code is allowed to run.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170432"/>
            <a:ext cx="3675888" cy="1664208"/>
          </a:xfrm>
          <a:prstGeom prst="roundRect">
            <a:avLst>
              <a:gd name="adj" fmla="val 2747"/>
            </a:avLst>
          </a:prstGeom>
          <a:solidFill>
            <a:srgbClr val="F6FBF8"/>
          </a:solidFill>
          <a:ln w="12700">
            <a:solidFill>
              <a:srgbClr val="CFE7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353312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528" y="1443472"/>
            <a:ext cx="130576" cy="13057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60704" y="133502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they are strong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76656" y="1792224"/>
            <a:ext cx="32369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 AI-enabled platform with twelve migration paths and a polished product story.</a:t>
            </a:r>
            <a:endParaRPr lang="en-US" sz="950" dirty="0"/>
          </a:p>
          <a:p>
            <a:pPr marL="342900" indent="-342900">
              <a:lnSpc>
                <a:spcPct val="9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27001, ISO 27701, SOC 2 and GDPR accreditation — a real advantage in regulated deals.</a:t>
            </a:r>
            <a:endParaRPr lang="en-US" sz="950" dirty="0"/>
          </a:p>
          <a:p>
            <a:pPr marL="342900" indent="-342900">
              <a:lnSpc>
                <a:spcPct val="9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states it handles PowerCenter and Informatica Developer / BDE repositories.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7200" y="2999232"/>
            <a:ext cx="3675888" cy="3456432"/>
          </a:xfrm>
          <a:prstGeom prst="roundRect">
            <a:avLst>
              <a:gd name="adj" fmla="val 1323"/>
            </a:avLst>
          </a:prstGeom>
          <a:solidFill>
            <a:srgbClr val="EEF7F1"/>
          </a:solidFill>
          <a:ln w="12700">
            <a:solidFill>
              <a:srgbClr val="CFE7D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8368" y="3182112"/>
            <a:ext cx="310896" cy="310896"/>
          </a:xfrm>
          <a:prstGeom prst="ellipse">
            <a:avLst/>
          </a:prstGeom>
          <a:solidFill>
            <a:srgbClr val="D98A2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528" y="3272272"/>
            <a:ext cx="130576" cy="13057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60704" y="316382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they leave a gap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76656" y="3639312"/>
            <a:ext cx="3236976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stops around 80%.  </a:t>
            </a:r>
            <a:pPr indent="0" marL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material quotes 70–80%. The remaining fifth is manual redevelopment, with no guided loop to absorb it.</a:t>
            </a:r>
            <a:endParaRPr lang="en-US" sz="1050" dirty="0"/>
          </a:p>
          <a:p>
            <a:pPr indent="0" marL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paths, one roadmap.  </a:t>
            </a:r>
            <a:pPr indent="0" marL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Fabric, Talend, Alteryx, Power BI and Databricks share the same engineering team. Informatica-to-Databricks is one of many priorities.</a:t>
            </a:r>
            <a:endParaRPr lang="en-US" sz="1050" dirty="0"/>
          </a:p>
          <a:p>
            <a:pPr indent="0" marL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plus services.  </a:t>
            </a:r>
            <a:pPr indent="0" marL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delivered alongside a Kanerika team, and cost is quoted per engagement rather than per workflow.</a:t>
            </a:r>
            <a:endParaRPr lang="en-US" sz="1050" dirty="0"/>
          </a:p>
          <a:p>
            <a:pPr indent="0" marL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regeneration by description.  </a:t>
            </a:r>
            <a:pPr indent="0" marL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published shows a developer prompting the platform in natural language to reshape generated code.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261104" y="1170432"/>
            <a:ext cx="3675888" cy="3456432"/>
          </a:xfrm>
          <a:prstGeom prst="roundRect">
            <a:avLst>
              <a:gd name="adj" fmla="val 1323"/>
            </a:avLst>
          </a:prstGeom>
          <a:solidFill>
            <a:srgbClr val="81C195"/>
          </a:solidFill>
          <a:ln/>
          <a:effectLst>
            <a:outerShdw sx="100000" sy="100000" kx="0" ky="0" algn="bl" rotWithShape="0" blurRad="127000" dist="25400" dir="5400000">
              <a:srgbClr val="1B3D2F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462272" y="135331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432" y="1443472"/>
            <a:ext cx="130576" cy="13057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864608" y="133502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Kumaran wins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4480560" y="1828800"/>
            <a:ext cx="3236976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close the last 20%.  </a:t>
            </a:r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80% automated and production-ready is the expensive part. Gate 2 turns it into a prompt-and-regenerate cycle instead of a rewrite.</a:t>
            </a:r>
            <a:endParaRPr lang="en-US" sz="1050" dirty="0"/>
          </a:p>
          <a:p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path, done properly.  </a:t>
            </a:r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PowerCenter to PySpark is our whole product, not one of twelve routes sharing a single backlog.</a:t>
            </a:r>
            <a:endParaRPr lang="en-US" sz="1050" dirty="0"/>
          </a:p>
          <a:p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 removed by design.  </a:t>
            </a:r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analysis detects common parameters and repeated logic and references them once — smaller, cleaner, cheaper code to maintain.</a:t>
            </a:r>
            <a:endParaRPr lang="en-US" sz="1050" dirty="0"/>
          </a:p>
          <a:p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placement.  </a:t>
            </a:r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 the client's own Azure tenant or standalone. The strongest answer to a data-residency question is that the data never left.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261104" y="4809744"/>
            <a:ext cx="3675888" cy="1645920"/>
          </a:xfrm>
          <a:prstGeom prst="roundRect">
            <a:avLst>
              <a:gd name="adj" fmla="val 2778"/>
            </a:avLst>
          </a:prstGeom>
          <a:solidFill>
            <a:srgbClr val="EEF7F1"/>
          </a:solidFill>
          <a:ln w="12700">
            <a:solidFill>
              <a:srgbClr val="CFE7D7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462272" y="4956048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2432" y="5046208"/>
            <a:ext cx="130576" cy="13057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864608" y="4937760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point that answers them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4480560" y="5358384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082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400" dirty="0"/>
          </a:p>
        </p:txBody>
      </p:sp>
      <p:sp>
        <p:nvSpPr>
          <p:cNvPr id="30" name="Text 24"/>
          <p:cNvSpPr/>
          <p:nvPr/>
        </p:nvSpPr>
        <p:spPr>
          <a:xfrm>
            <a:off x="4489704" y="57607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88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automation gap</a:t>
            </a:r>
            <a:endParaRPr lang="en-US" sz="88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88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close</a:t>
            </a:r>
            <a:endParaRPr lang="en-US" sz="880" dirty="0"/>
          </a:p>
        </p:txBody>
      </p:sp>
      <p:sp>
        <p:nvSpPr>
          <p:cNvPr id="31" name="Text 25"/>
          <p:cNvSpPr/>
          <p:nvPr/>
        </p:nvSpPr>
        <p:spPr>
          <a:xfrm>
            <a:off x="5705856" y="5376672"/>
            <a:ext cx="2011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1000"/>
              </a:spcAft>
              <a:buSzPct val="100000"/>
              <a:buChar char="•"/>
            </a:pPr>
            <a:r>
              <a:rPr lang="en-US" sz="9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turns the residual rewrite into a prompt-and-regenerate cycle.</a:t>
            </a:r>
            <a:endParaRPr lang="en-US" sz="900" dirty="0"/>
          </a:p>
          <a:p>
            <a:pPr marL="342900" indent="-342900">
              <a:lnSpc>
                <a:spcPct val="95000"/>
              </a:lnSpc>
              <a:spcAft>
                <a:spcPts val="1000"/>
              </a:spcAft>
              <a:buSzPct val="100000"/>
              <a:buChar char="•"/>
            </a:pPr>
            <a:r>
              <a:rPr lang="en-US" sz="9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PowerCenter to PySpark is the whole product, not one of twelve migration paths.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8065008" y="1170432"/>
            <a:ext cx="3675888" cy="2651760"/>
          </a:xfrm>
          <a:prstGeom prst="roundRect">
            <a:avLst>
              <a:gd name="adj" fmla="val 1724"/>
            </a:avLst>
          </a:prstGeom>
          <a:solidFill>
            <a:srgbClr val="F6FBF8"/>
          </a:solidFill>
          <a:ln w="12700">
            <a:solidFill>
              <a:srgbClr val="CFE7D7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8266176" y="1353312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6336" y="1443472"/>
            <a:ext cx="130576" cy="13057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668512" y="133502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they say… you say…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8284464" y="1792224"/>
            <a:ext cx="32369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“Kanerika holds ISO 27001, ISO 27701 and SOC 2. What do you hold?”</a:t>
            </a:r>
            <a:endParaRPr lang="en-US" sz="950" dirty="0"/>
          </a:p>
          <a:p>
            <a:pPr indent="0" marL="0">
              <a:lnSpc>
                <a:spcPct val="94000"/>
              </a:lnSpc>
              <a:spcAft>
                <a:spcPts val="900"/>
              </a:spcAft>
              <a:buNone/>
            </a:pPr>
            <a:r>
              <a:rPr lang="en-US" sz="92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certification question seriously and route it to Kumaran compliance rather than improvising. Then reframe: the control that matters most here is deployment topology, and ours runs entirely inside the client's own Azure subscription.</a:t>
            </a:r>
            <a:endParaRPr lang="en-US" sz="950" dirty="0"/>
          </a:p>
          <a:p>
            <a:pPr indent="0" marL="0">
              <a:lnSpc>
                <a:spcPct val="94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“FLIP already handles BDE and Developer mappings.”</a:t>
            </a:r>
            <a:endParaRPr lang="en-US" sz="950" dirty="0"/>
          </a:p>
          <a:p>
            <a:pPr indent="0" marL="0">
              <a:lnSpc>
                <a:spcPct val="94000"/>
              </a:lnSpc>
              <a:spcAft>
                <a:spcPts val="900"/>
              </a:spcAft>
              <a:buNone/>
            </a:pPr>
            <a:r>
              <a:rPr lang="en-US" sz="92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actual mix in scope during discovery. If the estate is overwhelmingly PowerCenter, buy depth on PowerCenter — a capability nobody exercises is not worth paying for.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8065008" y="4005072"/>
            <a:ext cx="3675888" cy="2450592"/>
          </a:xfrm>
          <a:prstGeom prst="roundRect">
            <a:avLst>
              <a:gd name="adj" fmla="val 1866"/>
            </a:avLst>
          </a:prstGeom>
          <a:solidFill>
            <a:srgbClr val="F6FBF8"/>
          </a:solidFill>
          <a:ln w="12700">
            <a:solidFill>
              <a:srgbClr val="CFE7D7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8266176" y="4169664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6336" y="4259824"/>
            <a:ext cx="130576" cy="13057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668512" y="4151376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questions</a:t>
            </a:r>
            <a:endParaRPr lang="en-US" sz="1250" dirty="0"/>
          </a:p>
        </p:txBody>
      </p:sp>
      <p:sp>
        <p:nvSpPr>
          <p:cNvPr id="41" name="Text 33"/>
          <p:cNvSpPr/>
          <p:nvPr/>
        </p:nvSpPr>
        <p:spPr>
          <a:xfrm>
            <a:off x="8284464" y="4608576"/>
            <a:ext cx="323697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1100"/>
              </a:spcAft>
              <a:buSzPct val="100000"/>
              <a:buChar char="•"/>
            </a:pPr>
            <a:r>
              <a:rPr lang="en-US" sz="98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the 20% their accelerator does not automate — who rewrites it, against what estimate?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1100"/>
              </a:spcAft>
              <a:buSzPct val="100000"/>
              <a:buChar char="•"/>
            </a:pPr>
            <a:r>
              <a:rPr lang="en-US" sz="98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your estate is PowerCenter versus BDM or Developer mappings?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1100"/>
              </a:spcAft>
              <a:buSzPct val="100000"/>
              <a:buChar char="•"/>
            </a:pPr>
            <a:r>
              <a:rPr lang="en-US" sz="98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your security team need the conversion to run inside your own tenant?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1100"/>
              </a:spcAft>
              <a:buSzPct val="100000"/>
              <a:buChar char="•"/>
            </a:pPr>
            <a:r>
              <a:rPr lang="en-US" sz="98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accelerator licensed to you, or bundled with their delivery team?</a:t>
            </a:r>
            <a:endParaRPr lang="en-US" sz="980" dirty="0"/>
          </a:p>
        </p:txBody>
      </p:sp>
      <p:sp>
        <p:nvSpPr>
          <p:cNvPr id="42" name="Text 34"/>
          <p:cNvSpPr/>
          <p:nvPr/>
        </p:nvSpPr>
        <p:spPr>
          <a:xfrm>
            <a:off x="457200" y="6528816"/>
            <a:ext cx="11265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B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internal use only  ·  Kumaran Systems  ·  August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21792" cy="621792"/>
          </a:xfrm>
          <a:prstGeom prst="ellipse">
            <a:avLst/>
          </a:prstGeom>
          <a:solidFill>
            <a:srgbClr val="81C19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4C9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BATTLECARD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88720" y="40233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Travinto Tools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07008" y="8046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X2X Analyzer · Converter · Validator · Optimizer · FinOps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973568" y="256032"/>
            <a:ext cx="3767328" cy="786384"/>
          </a:xfrm>
          <a:prstGeom prst="roundRect">
            <a:avLst>
              <a:gd name="adj" fmla="val 5814"/>
            </a:avLst>
          </a:prstGeom>
          <a:solidFill>
            <a:srgbClr val="81C195"/>
          </a:solidFill>
          <a:ln/>
        </p:spPr>
      </p:sp>
      <p:sp>
        <p:nvSpPr>
          <p:cNvPr id="8" name="Text 6"/>
          <p:cNvSpPr/>
          <p:nvPr/>
        </p:nvSpPr>
        <p:spPr>
          <a:xfrm>
            <a:off x="8174736" y="3474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FRAME THE DEAL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174736" y="530352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95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breadth with proof. Ask for a named reference on this exact path, at this scale, in this industry.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170432"/>
            <a:ext cx="3675888" cy="1664208"/>
          </a:xfrm>
          <a:prstGeom prst="roundRect">
            <a:avLst>
              <a:gd name="adj" fmla="val 2747"/>
            </a:avLst>
          </a:prstGeom>
          <a:solidFill>
            <a:srgbClr val="F6FBF8"/>
          </a:solidFill>
          <a:ln w="12700">
            <a:solidFill>
              <a:srgbClr val="CFE7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353312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528" y="1443472"/>
            <a:ext cx="130576" cy="13057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60704" y="133502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they are strong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76656" y="1792224"/>
            <a:ext cx="32369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wide any-to-any conversion matrix with a named five-tool suite.</a:t>
            </a:r>
            <a:endParaRPr lang="en-US" sz="950" dirty="0"/>
          </a:p>
          <a:p>
            <a:pPr marL="342900" indent="-342900">
              <a:lnSpc>
                <a:spcPct val="9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claims up to 90% reduction in migration time and states support for Informatica BDM.</a:t>
            </a:r>
            <a:endParaRPr lang="en-US" sz="950" dirty="0"/>
          </a:p>
          <a:p>
            <a:pPr marL="342900" indent="-342900">
              <a:lnSpc>
                <a:spcPct val="9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unsolicited mentions in Databricks Community threads.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7200" y="2999232"/>
            <a:ext cx="3675888" cy="3456432"/>
          </a:xfrm>
          <a:prstGeom prst="roundRect">
            <a:avLst>
              <a:gd name="adj" fmla="val 1323"/>
            </a:avLst>
          </a:prstGeom>
          <a:solidFill>
            <a:srgbClr val="EEF7F1"/>
          </a:solidFill>
          <a:ln w="12700">
            <a:solidFill>
              <a:srgbClr val="CFE7D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8368" y="3182112"/>
            <a:ext cx="310896" cy="310896"/>
          </a:xfrm>
          <a:prstGeom prst="ellipse">
            <a:avLst/>
          </a:prstGeom>
          <a:solidFill>
            <a:srgbClr val="D98A2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528" y="3272272"/>
            <a:ext cx="130576" cy="13057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60704" y="316382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they leave a gap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76656" y="3639312"/>
            <a:ext cx="3236976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over depth.  </a:t>
            </a:r>
            <a:pPr indent="0" marL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of source-target permutations from one team. Per-path grammar depth is very hard to sustain at that spread.</a:t>
            </a:r>
            <a:endParaRPr lang="en-US" sz="1050" dirty="0"/>
          </a:p>
          <a:p>
            <a:pPr indent="0" marL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verifiable proof.  </a:t>
            </a:r>
            <a:pPr indent="0" marL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named enterprise references or published case studies to substantiate the conversion claims.</a:t>
            </a:r>
            <a:endParaRPr lang="en-US" sz="1050" dirty="0"/>
          </a:p>
          <a:p>
            <a:pPr indent="0" marL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Single-click, low control.  </a:t>
            </a:r>
            <a:pPr indent="0" marL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 is one-click conversion. Nothing published gives developers a review step before code is generated.</a:t>
            </a:r>
            <a:endParaRPr lang="en-US" sz="1050" dirty="0"/>
          </a:p>
          <a:p>
            <a:pPr indent="0" marL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commercials and hosting.  </a:t>
            </a:r>
            <a:pPr indent="0" marL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pricing nor deployment topology is published, which stalls procurement and security review.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261104" y="1170432"/>
            <a:ext cx="3675888" cy="3456432"/>
          </a:xfrm>
          <a:prstGeom prst="roundRect">
            <a:avLst>
              <a:gd name="adj" fmla="val 1323"/>
            </a:avLst>
          </a:prstGeom>
          <a:solidFill>
            <a:srgbClr val="81C195"/>
          </a:solidFill>
          <a:ln/>
          <a:effectLst>
            <a:outerShdw sx="100000" sy="100000" kx="0" ky="0" algn="bl" rotWithShape="0" blurRad="127000" dist="25400" dir="5400000">
              <a:srgbClr val="1B3D2F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462272" y="135331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432" y="1443472"/>
            <a:ext cx="130576" cy="13057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864608" y="133502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Kumaran wins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4480560" y="1828800"/>
            <a:ext cx="3236976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Show, do not claim.  </a:t>
            </a:r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 to a 90% claim is a two-week PoC on the client's own hardest workflows, with the output reviewed by their developers.</a:t>
            </a:r>
            <a:endParaRPr lang="en-US" sz="1050" dirty="0"/>
          </a:p>
          <a:p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is the product.  </a:t>
            </a:r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review gates make conversion auditable. One-click conversion is fast right up to the point where it is wrong.</a:t>
            </a:r>
            <a:endParaRPr lang="en-US" sz="1050" dirty="0"/>
          </a:p>
          <a:p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procurement can use.  </a:t>
            </a:r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pay-as-you-go model, defined deployment options and a clear tenancy story. No unknowns to resolve before signature.</a:t>
            </a:r>
            <a:endParaRPr lang="en-US" sz="1050" dirty="0"/>
          </a:p>
          <a:p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for bulk estates.  </a:t>
            </a:r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Common-component detection means a thousand-workflow upload produces referenced, maintainable code rather than a thousand near-identical files.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261104" y="4809744"/>
            <a:ext cx="3675888" cy="1645920"/>
          </a:xfrm>
          <a:prstGeom prst="roundRect">
            <a:avLst>
              <a:gd name="adj" fmla="val 2778"/>
            </a:avLst>
          </a:prstGeom>
          <a:solidFill>
            <a:srgbClr val="EEF7F1"/>
          </a:solidFill>
          <a:ln w="12700">
            <a:solidFill>
              <a:srgbClr val="CFE7D7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462272" y="4956048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2432" y="5046208"/>
            <a:ext cx="130576" cy="13057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864608" y="4937760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point that answers them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4480560" y="5358384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082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wks</a:t>
            </a:r>
            <a:endParaRPr lang="en-US" sz="2400" dirty="0"/>
          </a:p>
        </p:txBody>
      </p:sp>
      <p:sp>
        <p:nvSpPr>
          <p:cNvPr id="30" name="Text 24"/>
          <p:cNvSpPr/>
          <p:nvPr/>
        </p:nvSpPr>
        <p:spPr>
          <a:xfrm>
            <a:off x="4489704" y="57607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88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PoC to evidence</a:t>
            </a:r>
            <a:endParaRPr lang="en-US" sz="88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88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their own workflows</a:t>
            </a:r>
            <a:endParaRPr lang="en-US" sz="880" dirty="0"/>
          </a:p>
        </p:txBody>
      </p:sp>
      <p:sp>
        <p:nvSpPr>
          <p:cNvPr id="31" name="Text 25"/>
          <p:cNvSpPr/>
          <p:nvPr/>
        </p:nvSpPr>
        <p:spPr>
          <a:xfrm>
            <a:off x="5705856" y="5376672"/>
            <a:ext cx="2011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1000"/>
              </a:spcAft>
              <a:buSzPct val="100000"/>
              <a:buChar char="•"/>
            </a:pPr>
            <a:r>
              <a:rPr lang="en-US" sz="9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code reviewed by the client's developers — not a claimed percentage.</a:t>
            </a:r>
            <a:endParaRPr lang="en-US" sz="900" dirty="0"/>
          </a:p>
          <a:p>
            <a:pPr marL="342900" indent="-342900">
              <a:lnSpc>
                <a:spcPct val="95000"/>
              </a:lnSpc>
              <a:spcAft>
                <a:spcPts val="1000"/>
              </a:spcAft>
              <a:buSzPct val="100000"/>
              <a:buChar char="•"/>
            </a:pPr>
            <a:r>
              <a:rPr lang="en-US" sz="9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pricing, defined deployment options, auditable review gates.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8065008" y="1170432"/>
            <a:ext cx="3675888" cy="2651760"/>
          </a:xfrm>
          <a:prstGeom prst="roundRect">
            <a:avLst>
              <a:gd name="adj" fmla="val 1724"/>
            </a:avLst>
          </a:prstGeom>
          <a:solidFill>
            <a:srgbClr val="F6FBF8"/>
          </a:solidFill>
          <a:ln w="12700">
            <a:solidFill>
              <a:srgbClr val="CFE7D7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8266176" y="1353312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6336" y="1443472"/>
            <a:ext cx="130576" cy="13057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668512" y="133502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they say… you say…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8284464" y="1792224"/>
            <a:ext cx="32369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“Travinto claims a 90% reduction in migration time.”</a:t>
            </a:r>
            <a:endParaRPr lang="en-US" sz="950" dirty="0"/>
          </a:p>
          <a:p>
            <a:pPr indent="0" marL="0">
              <a:lnSpc>
                <a:spcPct val="94000"/>
              </a:lnSpc>
              <a:spcAft>
                <a:spcPts val="900"/>
              </a:spcAft>
              <a:buNone/>
            </a:pPr>
            <a:r>
              <a:rPr lang="en-US" sz="92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vendor in this market quotes a large percentage, ours included. The only honest tie-breaker is generated code from the client's real workflows, reviewed by their own developers. Propose that comparison and let the output decide.</a:t>
            </a:r>
            <a:endParaRPr lang="en-US" sz="950" dirty="0"/>
          </a:p>
          <a:p>
            <a:pPr indent="0" marL="0">
              <a:lnSpc>
                <a:spcPct val="94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“Their tool covers far more source and target combinations.”</a:t>
            </a:r>
            <a:endParaRPr lang="en-US" sz="950" dirty="0"/>
          </a:p>
          <a:p>
            <a:pPr indent="0" marL="0">
              <a:lnSpc>
                <a:spcPct val="94000"/>
              </a:lnSpc>
              <a:spcAft>
                <a:spcPts val="900"/>
              </a:spcAft>
              <a:buNone/>
            </a:pPr>
            <a:r>
              <a:rPr lang="en-US" sz="92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a reason to check how deep any single one goes. Ask for a named reference on Informatica PowerCenter to Databricks specifically, at your scale, in your industry.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8065008" y="4005072"/>
            <a:ext cx="3675888" cy="2450592"/>
          </a:xfrm>
          <a:prstGeom prst="roundRect">
            <a:avLst>
              <a:gd name="adj" fmla="val 1866"/>
            </a:avLst>
          </a:prstGeom>
          <a:solidFill>
            <a:srgbClr val="F6FBF8"/>
          </a:solidFill>
          <a:ln w="12700">
            <a:solidFill>
              <a:srgbClr val="CFE7D7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8266176" y="4169664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6336" y="4259824"/>
            <a:ext cx="130576" cy="13057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668512" y="4151376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questions</a:t>
            </a:r>
            <a:endParaRPr lang="en-US" sz="1250" dirty="0"/>
          </a:p>
        </p:txBody>
      </p:sp>
      <p:sp>
        <p:nvSpPr>
          <p:cNvPr id="41" name="Text 33"/>
          <p:cNvSpPr/>
          <p:nvPr/>
        </p:nvSpPr>
        <p:spPr>
          <a:xfrm>
            <a:off x="8284464" y="4608576"/>
            <a:ext cx="323697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1100"/>
              </a:spcAft>
              <a:buSzPct val="100000"/>
              <a:buChar char="•"/>
            </a:pPr>
            <a:r>
              <a:rPr lang="en-US" sz="98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they name a reference at your scale on this exact source-to-target path?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1100"/>
              </a:spcAft>
              <a:buSzPct val="100000"/>
              <a:buChar char="•"/>
            </a:pPr>
            <a:r>
              <a:rPr lang="en-US" sz="98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tool run, and does your source metadata leave your network?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1100"/>
              </a:spcAft>
              <a:buSzPct val="100000"/>
              <a:buChar char="•"/>
            </a:pPr>
            <a:r>
              <a:rPr lang="en-US" sz="98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any step where your developers approve the mapping before code is generated?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1100"/>
              </a:spcAft>
              <a:buSzPct val="100000"/>
              <a:buChar char="•"/>
            </a:pPr>
            <a:r>
              <a:rPr lang="en-US" sz="98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their published pricing and deployment models, and has security reviewed them?</a:t>
            </a:r>
            <a:endParaRPr lang="en-US" sz="980" dirty="0"/>
          </a:p>
        </p:txBody>
      </p:sp>
      <p:sp>
        <p:nvSpPr>
          <p:cNvPr id="42" name="Text 34"/>
          <p:cNvSpPr/>
          <p:nvPr/>
        </p:nvSpPr>
        <p:spPr>
          <a:xfrm>
            <a:off x="457200" y="6528816"/>
            <a:ext cx="11265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B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internal use only  ·  Kumaran Systems  ·  August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" cy="603504"/>
          </a:xfrm>
          <a:prstGeom prst="ellipse">
            <a:avLst/>
          </a:prstGeom>
          <a:solidFill>
            <a:srgbClr val="40825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36576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4C9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70432" y="5486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win with, and what to ask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863840" y="47548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before you pick a battlecard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532120" cy="4846320"/>
          </a:xfrm>
          <a:prstGeom prst="roundRect">
            <a:avLst>
              <a:gd name="adj" fmla="val 943"/>
            </a:avLst>
          </a:prstGeom>
          <a:solidFill>
            <a:srgbClr val="F6FBF8"/>
          </a:solidFill>
          <a:ln w="12700">
            <a:solidFill>
              <a:srgbClr val="CFE7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71600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960" y="1461760"/>
            <a:ext cx="130576" cy="1305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88136" y="1353312"/>
            <a:ext cx="4672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deals we win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04088" y="182880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2400"/>
              </a:spcAft>
              <a:buNone/>
            </a:pPr>
            <a:r>
              <a:rPr lang="en-US" sz="11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Mid-sized PowerCenter estates.  </a:t>
            </a:r>
            <a:pPr indent="0" marL="0">
              <a:lnSpc>
                <a:spcPct val="95000"/>
              </a:lnSpc>
              <a:spcAft>
                <a:spcPts val="2400"/>
              </a:spcAft>
              <a:buNone/>
            </a:pPr>
            <a:r>
              <a:rPr lang="en-US" sz="11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Fifty to a few thousand workflows — too large to rewrite by hand, too small to absorb an enterprise licence.</a:t>
            </a:r>
            <a:endParaRPr lang="en-US" sz="1150" dirty="0"/>
          </a:p>
          <a:p>
            <a:pPr indent="0" marL="0">
              <a:lnSpc>
                <a:spcPct val="95000"/>
              </a:lnSpc>
              <a:spcAft>
                <a:spcPts val="2400"/>
              </a:spcAft>
              <a:buNone/>
            </a:pPr>
            <a:r>
              <a:rPr lang="en-US" sz="11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that want the capability in-house.  </a:t>
            </a:r>
            <a:pPr indent="0" marL="0">
              <a:lnSpc>
                <a:spcPct val="95000"/>
              </a:lnSpc>
              <a:spcAft>
                <a:spcPts val="2400"/>
              </a:spcAft>
              <a:buNone/>
            </a:pPr>
            <a:r>
              <a:rPr lang="en-US" sz="11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intend to own the migration, not hand the whole programme to a system integrator.</a:t>
            </a:r>
            <a:endParaRPr lang="en-US" sz="1150" dirty="0"/>
          </a:p>
          <a:p>
            <a:pPr indent="0" marL="0">
              <a:lnSpc>
                <a:spcPct val="95000"/>
              </a:lnSpc>
              <a:spcAft>
                <a:spcPts val="2400"/>
              </a:spcAft>
              <a:buNone/>
            </a:pPr>
            <a:r>
              <a:rPr lang="en-US" sz="11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industries.  </a:t>
            </a:r>
            <a:pPr indent="0" marL="0">
              <a:lnSpc>
                <a:spcPct val="95000"/>
              </a:lnSpc>
              <a:spcAft>
                <a:spcPts val="2400"/>
              </a:spcAft>
              <a:buNone/>
            </a:pPr>
            <a:r>
              <a:rPr lang="en-US" sz="11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Banking, insurance and healthcare, where the source metadata must stay inside the client's own tenant.</a:t>
            </a:r>
            <a:endParaRPr lang="en-US" sz="1150" dirty="0"/>
          </a:p>
          <a:p>
            <a:pPr indent="0" marL="0">
              <a:lnSpc>
                <a:spcPct val="95000"/>
              </a:lnSpc>
              <a:spcAft>
                <a:spcPts val="2400"/>
              </a:spcAft>
              <a:buNone/>
            </a:pPr>
            <a:r>
              <a:rPr lang="en-US" sz="11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Burned by a first attempt.  </a:t>
            </a:r>
            <a:pPr indent="0" marL="0">
              <a:lnSpc>
                <a:spcPct val="95000"/>
              </a:lnSpc>
              <a:spcAft>
                <a:spcPts val="2400"/>
              </a:spcAft>
              <a:buNone/>
            </a:pPr>
            <a:r>
              <a:rPr lang="en-US" sz="11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transpiler produced code, the rework estimate came in, and the programme stalled.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85800" y="4343400"/>
            <a:ext cx="310896" cy="310896"/>
          </a:xfrm>
          <a:prstGeom prst="ellipse">
            <a:avLst/>
          </a:prstGeom>
          <a:solidFill>
            <a:srgbClr val="D98A2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960" y="4433560"/>
            <a:ext cx="130576" cy="1305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88136" y="4325112"/>
            <a:ext cx="4672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should walk away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704088" y="48006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2000"/>
              </a:spcAft>
              <a:buSzPct val="100000"/>
              <a:buChar char="•"/>
            </a:pPr>
            <a:r>
              <a:rPr lang="en-US" sz="105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Estates that are mostly Informatica BDM / Developer rather than PowerCenter.</a:t>
            </a:r>
            <a:endParaRPr lang="en-US" sz="1050" dirty="0"/>
          </a:p>
          <a:p>
            <a:pPr marL="342900" indent="-342900">
              <a:lnSpc>
                <a:spcPct val="95000"/>
              </a:lnSpc>
              <a:spcAft>
                <a:spcPts val="2000"/>
              </a:spcAft>
              <a:buSzPct val="100000"/>
              <a:buChar char="•"/>
            </a:pPr>
            <a:r>
              <a:rPr lang="en-US" sz="105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programmes moving Teradata, SAS and Ab Initio in the same wave.</a:t>
            </a:r>
            <a:endParaRPr lang="en-US" sz="1050" dirty="0"/>
          </a:p>
          <a:p>
            <a:pPr marL="342900" indent="-342900">
              <a:lnSpc>
                <a:spcPct val="95000"/>
              </a:lnSpc>
              <a:spcAft>
                <a:spcPts val="2000"/>
              </a:spcAft>
              <a:buSzPct val="100000"/>
              <a:buChar char="•"/>
            </a:pPr>
            <a:r>
              <a:rPr lang="en-US" sz="105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whose target is Snowflake or Fabric rather than Databricks.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99632" y="1188720"/>
            <a:ext cx="5532120" cy="4846320"/>
          </a:xfrm>
          <a:prstGeom prst="roundRect">
            <a:avLst>
              <a:gd name="adj" fmla="val 943"/>
            </a:avLst>
          </a:prstGeom>
          <a:solidFill>
            <a:srgbClr val="81C195"/>
          </a:solidFill>
          <a:ln/>
          <a:effectLst>
            <a:outerShdw sx="100000" sy="100000" kx="0" ky="0" algn="bl" rotWithShape="0" blurRad="127000" dist="25400" dir="5400000">
              <a:srgbClr val="1B3D2F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28232" y="1371600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8392" y="1461760"/>
            <a:ext cx="130576" cy="1305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30568" y="1353312"/>
            <a:ext cx="4672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that qualify for us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446520" y="1828800"/>
            <a:ext cx="502920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2400"/>
              </a:spcAft>
              <a:buNone/>
            </a:pPr>
            <a:r>
              <a:rPr lang="en-US" sz="11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Scale.  </a:t>
            </a:r>
            <a:pPr indent="0" marL="0">
              <a:lnSpc>
                <a:spcPct val="95000"/>
              </a:lnSpc>
              <a:spcAft>
                <a:spcPts val="2400"/>
              </a:spcAft>
              <a:buNone/>
            </a:pPr>
            <a:r>
              <a:rPr lang="en-US" sz="11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workflows and mappings are in scope, and how much logic is duplicated across them?</a:t>
            </a:r>
            <a:endParaRPr lang="en-US" sz="1150" dirty="0"/>
          </a:p>
          <a:p>
            <a:pPr indent="0" marL="0">
              <a:lnSpc>
                <a:spcPct val="95000"/>
              </a:lnSpc>
              <a:spcAft>
                <a:spcPts val="2400"/>
              </a:spcAft>
              <a:buNone/>
            </a:pPr>
            <a:r>
              <a:rPr lang="en-US" sz="11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split.  </a:t>
            </a:r>
            <a:pPr indent="0" marL="0">
              <a:lnSpc>
                <a:spcPct val="95000"/>
              </a:lnSpc>
              <a:spcAft>
                <a:spcPts val="2400"/>
              </a:spcAft>
              <a:buNone/>
            </a:pPr>
            <a:r>
              <a:rPr lang="en-US" sz="11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share of your migration budget is tooling, and what share is developer rework and validation?</a:t>
            </a:r>
            <a:endParaRPr lang="en-US" sz="1150" dirty="0"/>
          </a:p>
          <a:p>
            <a:pPr indent="0" marL="0">
              <a:lnSpc>
                <a:spcPct val="95000"/>
              </a:lnSpc>
              <a:spcAft>
                <a:spcPts val="2400"/>
              </a:spcAft>
              <a:buNone/>
            </a:pPr>
            <a:r>
              <a:rPr lang="en-US" sz="11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Control.  </a:t>
            </a:r>
            <a:pPr indent="0" marL="0">
              <a:lnSpc>
                <a:spcPct val="95000"/>
              </a:lnSpc>
              <a:spcAft>
                <a:spcPts val="2400"/>
              </a:spcAft>
              <a:buNone/>
            </a:pPr>
            <a:r>
              <a:rPr lang="en-US" sz="11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your developers correct a mapping before code is generated, or only after?</a:t>
            </a:r>
            <a:endParaRPr lang="en-US" sz="1150" dirty="0"/>
          </a:p>
          <a:p>
            <a:pPr indent="0" marL="0">
              <a:lnSpc>
                <a:spcPct val="95000"/>
              </a:lnSpc>
              <a:spcAft>
                <a:spcPts val="2400"/>
              </a:spcAft>
              <a:buNone/>
            </a:pPr>
            <a:r>
              <a:rPr lang="en-US" sz="11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loop.  </a:t>
            </a:r>
            <a:pPr indent="0" marL="0">
              <a:lnSpc>
                <a:spcPct val="95000"/>
              </a:lnSpc>
              <a:spcAft>
                <a:spcPts val="2400"/>
              </a:spcAft>
              <a:buNone/>
            </a:pPr>
            <a:r>
              <a:rPr lang="en-US" sz="11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generated code is wrong, what is the process to correct it — and how long does one cycle take?</a:t>
            </a:r>
            <a:endParaRPr lang="en-US" sz="1150" dirty="0"/>
          </a:p>
          <a:p>
            <a:pPr indent="0" marL="0">
              <a:lnSpc>
                <a:spcPct val="95000"/>
              </a:lnSpc>
              <a:spcAft>
                <a:spcPts val="2400"/>
              </a:spcAft>
              <a:buNone/>
            </a:pPr>
            <a:r>
              <a:rPr lang="en-US" sz="11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Commercials.  </a:t>
            </a:r>
            <a:pPr indent="0" marL="0">
              <a:lnSpc>
                <a:spcPct val="95000"/>
              </a:lnSpc>
              <a:spcAft>
                <a:spcPts val="2400"/>
              </a:spcAft>
              <a:buNone/>
            </a:pPr>
            <a:r>
              <a:rPr lang="en-US" sz="11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paying an upfront licence, or only for what you actually convert?</a:t>
            </a:r>
            <a:endParaRPr lang="en-US" sz="1150" dirty="0"/>
          </a:p>
          <a:p>
            <a:pPr indent="0" marL="0">
              <a:lnSpc>
                <a:spcPct val="95000"/>
              </a:lnSpc>
              <a:spcAft>
                <a:spcPts val="2400"/>
              </a:spcAft>
              <a:buNone/>
            </a:pPr>
            <a:r>
              <a:rPr lang="en-US" sz="11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Residency.  </a:t>
            </a:r>
            <a:pPr indent="0" marL="0">
              <a:lnSpc>
                <a:spcPct val="95000"/>
              </a:lnSpc>
              <a:spcAft>
                <a:spcPts val="2400"/>
              </a:spcAft>
              <a:buNone/>
            </a:pPr>
            <a:r>
              <a:rPr lang="en-US" sz="11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your source metadata need to stay inside your own tenant?</a:t>
            </a:r>
            <a:endParaRPr lang="en-US" sz="1150" dirty="0"/>
          </a:p>
          <a:p>
            <a:pPr indent="0" marL="0">
              <a:lnSpc>
                <a:spcPct val="95000"/>
              </a:lnSpc>
              <a:spcAft>
                <a:spcPts val="2400"/>
              </a:spcAft>
              <a:buNone/>
            </a:pPr>
            <a:r>
              <a:rPr lang="en-US" sz="11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Assurance.  </a:t>
            </a:r>
            <a:pPr indent="0" marL="0">
              <a:lnSpc>
                <a:spcPct val="95000"/>
              </a:lnSpc>
              <a:spcAft>
                <a:spcPts val="2400"/>
              </a:spcAft>
              <a:buNone/>
            </a:pPr>
            <a:r>
              <a:rPr lang="en-US" sz="11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you prove logic parity between the old workflow and the new pipeline to an auditor?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81C1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023360"/>
            <a:ext cx="4572000" cy="45720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ONE-LINE POSITION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114300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tool converts. We are the one that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the rework disappear.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6060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conversion is now table stakes — Databricks gives an engine away for free. The migration budget is spent on what happens after conversion. Two human-in-the-loop gates and automatic reuse of shared logic are what take that number down.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3794760"/>
            <a:ext cx="260604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41832" y="4005072"/>
            <a:ext cx="402336" cy="402336"/>
          </a:xfrm>
          <a:prstGeom prst="ellipse">
            <a:avLst/>
          </a:prstGeom>
          <a:solidFill>
            <a:srgbClr val="40825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509" y="4121749"/>
            <a:ext cx="168981" cy="16898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1832" y="45079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before code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4800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9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catches misread mappings before a line is generated.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483864" y="3794760"/>
            <a:ext cx="260604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3739896" y="4005072"/>
            <a:ext cx="402336" cy="402336"/>
          </a:xfrm>
          <a:prstGeom prst="ellipse">
            <a:avLst/>
          </a:prstGeom>
          <a:solidFill>
            <a:srgbClr val="40825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6573" y="4121749"/>
            <a:ext cx="168981" cy="16898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39896" y="45079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by description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758184" y="4800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9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regenerates PySpark from plain English, not hand edits.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281928" y="3794760"/>
            <a:ext cx="260604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6537960" y="4005072"/>
            <a:ext cx="402336" cy="402336"/>
          </a:xfrm>
          <a:prstGeom prst="ellipse">
            <a:avLst/>
          </a:prstGeom>
          <a:solidFill>
            <a:srgbClr val="40825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637" y="4121749"/>
            <a:ext cx="168981" cy="16898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37960" y="45079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shared logic once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556248" y="4800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9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estates produce referenced code, not duplicated code.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9079992" y="3794760"/>
            <a:ext cx="260604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</p:spPr>
      </p:sp>
      <p:sp>
        <p:nvSpPr>
          <p:cNvPr id="22" name="Shape 17"/>
          <p:cNvSpPr/>
          <p:nvPr/>
        </p:nvSpPr>
        <p:spPr>
          <a:xfrm>
            <a:off x="9336024" y="4005072"/>
            <a:ext cx="402336" cy="402336"/>
          </a:xfrm>
          <a:prstGeom prst="ellipse">
            <a:avLst/>
          </a:prstGeom>
          <a:solidFill>
            <a:srgbClr val="408255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2701" y="4121749"/>
            <a:ext cx="168981" cy="16898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36024" y="45079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in their tenant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9354312" y="4800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9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SaaS, the client's own Azure subscription, or standalone.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685800" y="58704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 in every deal: a two-week proof of concept on the client's ten most complex workflows, reviewed by their own developers.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9464040" y="5623560"/>
            <a:ext cx="228600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5760720"/>
            <a:ext cx="1828800" cy="6729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Kumaran Systems — Data Migration Battlecards</dc:title>
  <dc:subject>PptxGenJS Presentation</dc:subject>
  <dc:creator>Kumaran Systems</dc:creator>
  <cp:lastModifiedBy>Kumaran Systems</cp:lastModifiedBy>
  <cp:revision>1</cp:revision>
  <dcterms:created xsi:type="dcterms:W3CDTF">2026-08-25T03:17:28Z</dcterms:created>
  <dcterms:modified xsi:type="dcterms:W3CDTF">2026-08-25T03:17:28Z</dcterms:modified>
</cp:coreProperties>
</file>